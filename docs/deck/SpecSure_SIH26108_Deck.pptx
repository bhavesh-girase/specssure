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Right answer first</c:v>
                </c:pt>
              </c:strCache>
            </c:strRef>
          </c:tx>
          <c:spPr>
            <a:solidFill>
              <a:srgbClr val="0F2748"/>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GeM category names (403, labels by GeM)</c:v>
                  </c:pt>
                  <c:pt idx="1">
                    <c:v>BIS certification list (803)</c:v>
                  </c:pt>
                  <c:pt idx="2">
                    <c:v>Procurement queries (40)</c:v>
                  </c:pt>
                  <c:pt idx="3">
                    <c:v>Indian languages, held-out (28)</c:v>
                  </c:pt>
                </c:lvl>
              </c:multiLvlStrCache>
            </c:multiLvlStrRef>
          </c:cat>
          <c:val>
            <c:numRef>
              <c:f>Sheet1!$B$2:$B$5</c:f>
              <c:numCache>
                <c:formatCode>General</c:formatCode>
                <c:ptCount val="4"/>
                <c:pt idx="0">
                  <c:v>80.4</c:v>
                </c:pt>
                <c:pt idx="1">
                  <c:v>83.8</c:v>
                </c:pt>
                <c:pt idx="2">
                  <c:v>70</c:v>
                </c:pt>
                <c:pt idx="3">
                  <c:v>39.3</c:v>
                </c:pt>
              </c:numCache>
            </c:numRef>
          </c:val>
        </c:ser>
        <c:ser>
          <c:idx val="1"/>
          <c:order val="1"/>
          <c:tx>
            <c:strRef>
              <c:f>Sheet1!$C$1</c:f>
              <c:strCache>
                <c:ptCount val="1"/>
                <c:pt idx="0">
                  <c:v>In the top 3</c:v>
                </c:pt>
              </c:strCache>
            </c:strRef>
          </c:tx>
          <c:spPr>
            <a:solidFill>
              <a:srgbClr val="F28C28"/>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GeM category names (403, labels by GeM)</c:v>
                  </c:pt>
                  <c:pt idx="1">
                    <c:v>BIS certification list (803)</c:v>
                  </c:pt>
                  <c:pt idx="2">
                    <c:v>Procurement queries (40)</c:v>
                  </c:pt>
                  <c:pt idx="3">
                    <c:v>Indian languages, held-out (28)</c:v>
                  </c:pt>
                </c:lvl>
              </c:multiLvlStrCache>
            </c:multiLvlStrRef>
          </c:cat>
          <c:val>
            <c:numRef>
              <c:f>Sheet1!$C$2:$C$5</c:f>
              <c:numCache>
                <c:formatCode>General</c:formatCode>
                <c:ptCount val="4"/>
                <c:pt idx="0">
                  <c:v>86.1</c:v>
                </c:pt>
                <c:pt idx="1">
                  <c:v>90.7</c:v>
                </c:pt>
                <c:pt idx="2">
                  <c:v>90</c:v>
                </c:pt>
                <c:pt idx="3">
                  <c:v>71.4</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SpecSure answers the core question of PS SIH26108: which Indian Standards apply to what I am procuring — and it goes beyond search: edition in force, amendments, allied standards, compulsory certification, testing labs and a clause the officer can paste into the tender. The screenshot on the right is a real result for 'PVC insulated copper wire for house wiring, 450/750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is real and measurable. We ran our pipeline over 23 institutional tenders and 40 GeM bid documents. Half the institutional tenders cite no Indian Standard at all. BIS's own catalogue lists 6,072 withdrawn standards, and 3,823 standards have a newer edition than the archived text most people circulate. The five pain points on the right are exactly what the PS asks us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in one line. Every step is backed by data — steps 4 to 6 use live BIS data we collected: the BIS catalogue, the BIS e-Sale portal and BIS LIMS for labs. The output is not a chat answer but a clause the officer can paste into the 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moat. Every other public SIH26108 project we surveyed has between 3 and about 2,500 standards, mostly typed by hand. We parsed the standards' own text into 80,834 relationships, then layered BIS's own catalogue for status and document type, the BIS e-Sale portal for editions and amendments, the compulsory-certification lists, GeM categories and BIS LIMS for testing labs. All fetched on 27 September 2026 and dated in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deterministic and auditable: retrieval combines keyword and multilingual semantic search; the decision step computes a confidence level and abstains when the retrievers disagree; withdrawn and title-only standards can never be 'Recommended'. The graph and the BIS data then add dependencies, editions, certification and labs. No step requires a paid AI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result. IS 694 ranks first because its Scope clause matches; the Why line shows the retrieval signals. The green box is the edition status from the BIS portal with every amendment and the date we checked. Certification comes from BIS's compulsory-certification pages, and the GeM line shows how many live bids use this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 asks for related standards. We go further: the compliance tree is the transitive closure of references and test methods, read from each standard's text. Then the bidder's next question — where can I get this tested and at what cost — is answered from BIS LIMS. No other SIH26108 project we surveyed has real lab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 asks for multiple Indian languages. Most tender Hindi is transliterated English, so we romanise each word, reduce it to a sound skeleton and match it to the vocabulary of standard titles. Native words go through a procurement glossary, and the multilingual embeddings also read the original text. On a held-out set written before this work, the right standard is first 39% of the time and in the top 3 71% of the time with shortcuts off; 50% and 79% in product mode. It is our weakest area and the Evidence page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tracking is where most tools stop at 'check the BIS portal'. We checked it: the archived text is the 2012 edition, but BIS lists the 2026 edition, so we flag it and draft for 2026. Withdrawn standards are redrafted for their replacement. The spec block is the PS's 'exportable specification' feature — copy, Word, or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is usually a slide of promises. Ours is a working Manifest V3 extension: on the GeM bid listing it adds a strip under every bid with the named standard's status, amendments and certification, or our suggestion. On a bid document it analyses the PDF item by item. It talks only to the SpecSure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GeM benchmark is our strongest evidence because the labels are written by GeM, not by us: 403 category names with the standard stripped out. 80% are right first time and 91% in the top 10 with every shortcut off. Just as important for procurement: when we say Recommended we are right about 90% of the time, and 91% of vague or service requests get no recommendation. Indian languages are the weakest bar, and we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are clean but short; real tenders are long and messy. We ran 63 real documents end to end. The headline for judges: half the institutional tenders cite no standard at all, and when we say Recommended on real documents we were right about 85% of the time. We abstain on items no Indian Standard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at every public repository on this problem statement. The strongest one does excellent work on one division family. What sets us apart is scale across all divisions, BIS-sourced editions and status, real certification and lab data, and proof on GeM's own labels and real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realistic for a government setting: it runs offline on a CPU server, falls back automatically if the large model is unavailable, and every data source has its own refresh script. We are open about the gaps: amendment lists cover 1,138 key standards today, newer standards are title-only, and Indian languages need more work. A pilot with a real procurement cell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the right standard, the right edition, the right test lab, in the buyer's language — and every line defensible. Then switch to the live demo, or play the 100-second film if the network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8"/>
        </a:solidFill>
      </p:bgPr>
    </p:bg>
    <p:spTree>
      <p:nvGrpSpPr>
        <p:cNvPr id="1" name=""/>
        <p:cNvGrpSpPr/>
        <p:nvPr/>
      </p:nvGrpSpPr>
      <p:grpSpPr>
        <a:xfrm>
          <a:off x="0" y="0"/>
          <a:ext cx="0" cy="0"/>
          <a:chOff x="0" y="0"/>
          <a:chExt cx="0" cy="0"/>
        </a:xfrm>
      </p:grpSpPr>
      <p:sp>
        <p:nvSpPr>
          <p:cNvPr id="2" name="Text 0"/>
          <p:cNvSpPr txBox="1"/>
          <p:nvPr/>
        </p:nvSpPr>
        <p:spPr>
          <a:xfrm>
            <a:off x="548640" y="640080"/>
            <a:ext cx="7772400" cy="320040"/>
          </a:xfrm>
          <a:prstGeom prst="rect">
            <a:avLst/>
          </a:prstGeom>
          <a:noFill/>
          <a:ln/>
        </p:spPr>
        <p:txBody>
          <a:bodyPr wrap="square" lIns="0" tIns="0" rIns="0" bIns="0" rtlCol="0" anchor="ctr"/>
          <a:lstStyle/>
          <a:p>
            <a:pPr indent="0" marL="0">
              <a:buNone/>
            </a:pPr>
            <a:r>
              <a:rPr lang="en-US" sz="1200" b="1" spc="100" kern="0" dirty="0">
                <a:solidFill>
                  <a:srgbClr val="F28C28"/>
                </a:solidFill>
                <a:latin typeface="Calibri" pitchFamily="34" charset="0"/>
                <a:ea typeface="Calibri" pitchFamily="34" charset="-122"/>
                <a:cs typeface="Calibri" pitchFamily="34" charset="-120"/>
              </a:rPr>
              <a:t>SMART INDIA HACKATHON 2026  ·  PS SIH26108  ·  MINISTRY OF CONSUMER AFFAIRS</a:t>
            </a:r>
            <a:endParaRPr lang="en-US" sz="1200" dirty="0"/>
          </a:p>
        </p:txBody>
      </p:sp>
      <p:sp>
        <p:nvSpPr>
          <p:cNvPr id="3" name="Text 1"/>
          <p:cNvSpPr txBox="1"/>
          <p:nvPr/>
        </p:nvSpPr>
        <p:spPr>
          <a:xfrm>
            <a:off x="548640" y="1234440"/>
            <a:ext cx="640080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SpecSure</a:t>
            </a:r>
            <a:endParaRPr lang="en-US" sz="6600" dirty="0"/>
          </a:p>
        </p:txBody>
      </p:sp>
      <p:sp>
        <p:nvSpPr>
          <p:cNvPr id="4" name="Text 2"/>
          <p:cNvSpPr txBox="1"/>
          <p:nvPr/>
        </p:nvSpPr>
        <p:spPr>
          <a:xfrm>
            <a:off x="548640" y="2468880"/>
            <a:ext cx="6035040" cy="1371600"/>
          </a:xfrm>
          <a:prstGeom prst="rect">
            <a:avLst/>
          </a:prstGeom>
          <a:noFill/>
          <a:ln/>
        </p:spPr>
        <p:txBody>
          <a:bodyPr wrap="square" lIns="0" tIns="0" rIns="0" bIns="0" rtlCol="0" anchor="ctr"/>
          <a:lstStyle/>
          <a:p>
            <a:pPr indent="0" marL="0">
              <a:buNone/>
            </a:pPr>
            <a:r>
              <a:rPr lang="en-US" sz="2000" dirty="0">
                <a:solidFill>
                  <a:srgbClr val="DCE5F2"/>
                </a:solidFill>
                <a:latin typeface="Calibri" pitchFamily="34" charset="0"/>
                <a:ea typeface="Calibri" pitchFamily="34" charset="-122"/>
                <a:cs typeface="Calibri" pitchFamily="34" charset="-120"/>
              </a:rPr>
              <a:t>The right Indian Standard for every procurement specification — with the edition in force, everything it depends on, the certification it needs and where to test it.</a:t>
            </a:r>
            <a:endParaRPr lang="en-US" sz="2000" dirty="0"/>
          </a:p>
        </p:txBody>
      </p:sp>
      <p:sp>
        <p:nvSpPr>
          <p:cNvPr id="5" name="Text 3"/>
          <p:cNvSpPr txBox="1"/>
          <p:nvPr/>
        </p:nvSpPr>
        <p:spPr>
          <a:xfrm>
            <a:off x="548640" y="4160520"/>
            <a:ext cx="19202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29,875</a:t>
            </a:r>
            <a:endParaRPr lang="en-US" sz="2600" dirty="0"/>
          </a:p>
        </p:txBody>
      </p:sp>
      <p:sp>
        <p:nvSpPr>
          <p:cNvPr id="6" name="Text 4"/>
          <p:cNvSpPr txBox="1"/>
          <p:nvPr/>
        </p:nvSpPr>
        <p:spPr>
          <a:xfrm>
            <a:off x="548640" y="4681728"/>
            <a:ext cx="1920240" cy="365760"/>
          </a:xfrm>
          <a:prstGeom prst="rect">
            <a:avLst/>
          </a:prstGeom>
          <a:noFill/>
          <a:ln/>
        </p:spPr>
        <p:txBody>
          <a:bodyPr wrap="square" lIns="0" tIns="0" rIns="0" bIns="0" rtlCol="0" anchor="ctr"/>
          <a:lstStyle/>
          <a:p>
            <a:pPr indent="0" marL="0">
              <a:buNone/>
            </a:pPr>
            <a:r>
              <a:rPr lang="en-US" sz="1200" dirty="0">
                <a:solidFill>
                  <a:srgbClr val="A9BAD3"/>
                </a:solidFill>
                <a:latin typeface="Calibri" pitchFamily="34" charset="0"/>
                <a:ea typeface="Calibri" pitchFamily="34" charset="-122"/>
                <a:cs typeface="Calibri" pitchFamily="34" charset="-120"/>
              </a:rPr>
              <a:t>Indian Standards</a:t>
            </a:r>
            <a:endParaRPr lang="en-US" sz="1200" dirty="0"/>
          </a:p>
        </p:txBody>
      </p:sp>
      <p:sp>
        <p:nvSpPr>
          <p:cNvPr id="7" name="Text 5"/>
          <p:cNvSpPr txBox="1"/>
          <p:nvPr/>
        </p:nvSpPr>
        <p:spPr>
          <a:xfrm>
            <a:off x="2606040" y="4160520"/>
            <a:ext cx="19202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80,834</a:t>
            </a:r>
            <a:endParaRPr lang="en-US" sz="2600" dirty="0"/>
          </a:p>
        </p:txBody>
      </p:sp>
      <p:sp>
        <p:nvSpPr>
          <p:cNvPr id="8" name="Text 6"/>
          <p:cNvSpPr txBox="1"/>
          <p:nvPr/>
        </p:nvSpPr>
        <p:spPr>
          <a:xfrm>
            <a:off x="2606040" y="4681728"/>
            <a:ext cx="1920240" cy="365760"/>
          </a:xfrm>
          <a:prstGeom prst="rect">
            <a:avLst/>
          </a:prstGeom>
          <a:noFill/>
          <a:ln/>
        </p:spPr>
        <p:txBody>
          <a:bodyPr wrap="square" lIns="0" tIns="0" rIns="0" bIns="0" rtlCol="0" anchor="ctr"/>
          <a:lstStyle/>
          <a:p>
            <a:pPr indent="0" marL="0">
              <a:buNone/>
            </a:pPr>
            <a:r>
              <a:rPr lang="en-US" sz="1200" dirty="0">
                <a:solidFill>
                  <a:srgbClr val="A9BAD3"/>
                </a:solidFill>
                <a:latin typeface="Calibri" pitchFamily="34" charset="0"/>
                <a:ea typeface="Calibri" pitchFamily="34" charset="-122"/>
                <a:cs typeface="Calibri" pitchFamily="34" charset="-120"/>
              </a:rPr>
              <a:t>links read from their text</a:t>
            </a:r>
            <a:endParaRPr lang="en-US" sz="1200" dirty="0"/>
          </a:p>
        </p:txBody>
      </p:sp>
      <p:sp>
        <p:nvSpPr>
          <p:cNvPr id="9" name="Text 7"/>
          <p:cNvSpPr txBox="1"/>
          <p:nvPr/>
        </p:nvSpPr>
        <p:spPr>
          <a:xfrm>
            <a:off x="4663440" y="4160520"/>
            <a:ext cx="19202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 languages</a:t>
            </a:r>
            <a:endParaRPr lang="en-US" sz="2600" dirty="0"/>
          </a:p>
        </p:txBody>
      </p:sp>
      <p:sp>
        <p:nvSpPr>
          <p:cNvPr id="10" name="Text 8"/>
          <p:cNvSpPr txBox="1"/>
          <p:nvPr/>
        </p:nvSpPr>
        <p:spPr>
          <a:xfrm>
            <a:off x="4663440" y="4681728"/>
            <a:ext cx="1920240" cy="365760"/>
          </a:xfrm>
          <a:prstGeom prst="rect">
            <a:avLst/>
          </a:prstGeom>
          <a:noFill/>
          <a:ln/>
        </p:spPr>
        <p:txBody>
          <a:bodyPr wrap="square" lIns="0" tIns="0" rIns="0" bIns="0" rtlCol="0" anchor="ctr"/>
          <a:lstStyle/>
          <a:p>
            <a:pPr indent="0" marL="0">
              <a:buNone/>
            </a:pPr>
            <a:r>
              <a:rPr lang="en-US" sz="1200" dirty="0">
                <a:solidFill>
                  <a:srgbClr val="A9BAD3"/>
                </a:solidFill>
                <a:latin typeface="Calibri" pitchFamily="34" charset="0"/>
                <a:ea typeface="Calibri" pitchFamily="34" charset="-122"/>
                <a:cs typeface="Calibri" pitchFamily="34" charset="-120"/>
              </a:rPr>
              <a:t>text · voice · read-aloud</a:t>
            </a:r>
            <a:endParaRPr lang="en-US" sz="1200" dirty="0"/>
          </a:p>
        </p:txBody>
      </p:sp>
      <p:sp>
        <p:nvSpPr>
          <p:cNvPr id="11" name="Text 9"/>
          <p:cNvSpPr txBox="1"/>
          <p:nvPr/>
        </p:nvSpPr>
        <p:spPr>
          <a:xfrm>
            <a:off x="548640" y="5806440"/>
            <a:ext cx="45720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CodeNova</a:t>
            </a:r>
            <a:endParaRPr lang="en-US" sz="1400" dirty="0"/>
          </a:p>
        </p:txBody>
      </p:sp>
      <p:sp>
        <p:nvSpPr>
          <p:cNvPr id="12" name="Text 10"/>
          <p:cNvSpPr txBox="1"/>
          <p:nvPr/>
        </p:nvSpPr>
        <p:spPr>
          <a:xfrm>
            <a:off x="548640" y="6144768"/>
            <a:ext cx="5486400" cy="274320"/>
          </a:xfrm>
          <a:prstGeom prst="rect">
            <a:avLst/>
          </a:prstGeom>
          <a:noFill/>
          <a:ln/>
        </p:spPr>
        <p:txBody>
          <a:bodyPr wrap="square" lIns="0" tIns="0" rIns="0" bIns="0" rtlCol="0" anchor="ctr"/>
          <a:lstStyle/>
          <a:p>
            <a:pPr indent="0" marL="0">
              <a:buNone/>
            </a:pPr>
            <a:r>
              <a:rPr lang="en-US" sz="1000" dirty="0">
                <a:solidFill>
                  <a:srgbClr val="8FA3C0"/>
                </a:solidFill>
                <a:latin typeface="Calibri" pitchFamily="34" charset="0"/>
                <a:ea typeface="Calibri" pitchFamily="34" charset="-122"/>
                <a:cs typeface="Calibri" pitchFamily="34" charset="-120"/>
              </a:rPr>
              <a:t>Prototype — not an official Government of India system</a:t>
            </a:r>
            <a:endParaRPr lang="en-US" sz="1000" dirty="0"/>
          </a:p>
        </p:txBody>
      </p:sp>
      <p:sp>
        <p:nvSpPr>
          <p:cNvPr id="13" name="Shape 11"/>
          <p:cNvSpPr/>
          <p:nvPr/>
        </p:nvSpPr>
        <p:spPr>
          <a:xfrm>
            <a:off x="6858000" y="2222485"/>
            <a:ext cx="5029200" cy="2504470"/>
          </a:xfrm>
          <a:prstGeom prst="roundRect">
            <a:avLst>
              <a:gd name="adj" fmla="val 3651"/>
            </a:avLst>
          </a:prstGeom>
          <a:solidFill>
            <a:srgbClr val="FFFFFF"/>
          </a:solidFill>
          <a:ln w="12700">
            <a:solidFill>
              <a:srgbClr val="FFFFFF"/>
            </a:solidFill>
            <a:prstDash val="solid"/>
          </a:ln>
          <a:effectLst>
            <a:outerShdw sx="100000" sy="100000" kx="0" ky="0" algn="bl" rotWithShape="0" blurRad="101600" dist="25400" dir="5400000">
              <a:srgbClr val="000000">
                <a:alpha val="18000"/>
              </a:srgbClr>
            </a:outerShdw>
          </a:effectLst>
        </p:spPr>
      </p:sp>
      <p:pic>
        <p:nvPicPr>
          <p:cNvPr id="14" name="Image 0" descr="/tmp/claude-0/deck/img/card.png">    </p:cNvPr>
          <p:cNvPicPr>
            <a:picLocks noChangeAspect="1"/>
          </p:cNvPicPr>
          <p:nvPr/>
        </p:nvPicPr>
        <p:blipFill>
          <a:blip r:embed="rId1"/>
          <a:stretch>
            <a:fillRect/>
          </a:stretch>
        </p:blipFill>
        <p:spPr>
          <a:xfrm>
            <a:off x="6949440" y="2313925"/>
            <a:ext cx="4846320" cy="23215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Citing the right standard is still guesswork</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What we found in 63 real public tenders and GeM bids (1,542 pages) and in the BIS catalogue</a:t>
            </a:r>
            <a:endParaRPr lang="en-US" sz="1600" dirty="0"/>
          </a:p>
        </p:txBody>
      </p:sp>
      <p:sp>
        <p:nvSpPr>
          <p:cNvPr id="4" name="Shape 2"/>
          <p:cNvSpPr/>
          <p:nvPr/>
        </p:nvSpPr>
        <p:spPr>
          <a:xfrm>
            <a:off x="548640" y="1783080"/>
            <a:ext cx="5120640" cy="1234440"/>
          </a:xfrm>
          <a:prstGeom prst="roundRect">
            <a:avLst>
              <a:gd name="adj" fmla="val 5926"/>
            </a:avLst>
          </a:prstGeom>
          <a:solidFill>
            <a:srgbClr val="F6F8FB"/>
          </a:solidFill>
          <a:ln w="9525">
            <a:solidFill>
              <a:srgbClr val="D5DEEA"/>
            </a:solidFill>
            <a:prstDash val="solid"/>
          </a:ln>
        </p:spPr>
      </p:sp>
      <p:sp>
        <p:nvSpPr>
          <p:cNvPr id="5" name="Text 3"/>
          <p:cNvSpPr txBox="1"/>
          <p:nvPr/>
        </p:nvSpPr>
        <p:spPr>
          <a:xfrm>
            <a:off x="777240" y="1892808"/>
            <a:ext cx="2103120" cy="1005840"/>
          </a:xfrm>
          <a:prstGeom prst="rect">
            <a:avLst/>
          </a:prstGeom>
          <a:noFill/>
          <a:ln/>
        </p:spPr>
        <p:txBody>
          <a:bodyPr wrap="square" lIns="0" tIns="0" rIns="0" bIns="0" rtlCol="0" anchor="ctr"/>
          <a:lstStyle/>
          <a:p>
            <a:pPr indent="0" marL="0">
              <a:buNone/>
            </a:pPr>
            <a:r>
              <a:rPr lang="en-US" sz="3600" b="1" dirty="0">
                <a:solidFill>
                  <a:srgbClr val="B42318"/>
                </a:solidFill>
                <a:latin typeface="Cambria" pitchFamily="34" charset="0"/>
                <a:ea typeface="Cambria" pitchFamily="34" charset="-122"/>
                <a:cs typeface="Cambria" pitchFamily="34" charset="-120"/>
              </a:rPr>
              <a:t>12 of 23</a:t>
            </a:r>
            <a:endParaRPr lang="en-US" sz="3600" dirty="0"/>
          </a:p>
        </p:txBody>
      </p:sp>
      <p:sp>
        <p:nvSpPr>
          <p:cNvPr id="6" name="Text 4"/>
          <p:cNvSpPr txBox="1"/>
          <p:nvPr/>
        </p:nvSpPr>
        <p:spPr>
          <a:xfrm>
            <a:off x="2926080" y="1892808"/>
            <a:ext cx="2606040" cy="10058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institutional tenders cite no Indian Standard at all</a:t>
            </a:r>
            <a:endParaRPr lang="en-US" sz="1400" dirty="0"/>
          </a:p>
        </p:txBody>
      </p:sp>
      <p:sp>
        <p:nvSpPr>
          <p:cNvPr id="7" name="Shape 5"/>
          <p:cNvSpPr/>
          <p:nvPr/>
        </p:nvSpPr>
        <p:spPr>
          <a:xfrm>
            <a:off x="548640" y="3246120"/>
            <a:ext cx="5120640" cy="1234440"/>
          </a:xfrm>
          <a:prstGeom prst="roundRect">
            <a:avLst>
              <a:gd name="adj" fmla="val 5926"/>
            </a:avLst>
          </a:prstGeom>
          <a:solidFill>
            <a:srgbClr val="F6F8FB"/>
          </a:solidFill>
          <a:ln w="9525">
            <a:solidFill>
              <a:srgbClr val="D5DEEA"/>
            </a:solidFill>
            <a:prstDash val="solid"/>
          </a:ln>
        </p:spPr>
      </p:sp>
      <p:sp>
        <p:nvSpPr>
          <p:cNvPr id="8" name="Text 6"/>
          <p:cNvSpPr txBox="1"/>
          <p:nvPr/>
        </p:nvSpPr>
        <p:spPr>
          <a:xfrm>
            <a:off x="777240" y="3355848"/>
            <a:ext cx="2103120" cy="1005840"/>
          </a:xfrm>
          <a:prstGeom prst="rect">
            <a:avLst/>
          </a:prstGeom>
          <a:noFill/>
          <a:ln/>
        </p:spPr>
        <p:txBody>
          <a:bodyPr wrap="square" lIns="0" tIns="0" rIns="0" bIns="0" rtlCol="0" anchor="ctr"/>
          <a:lstStyle/>
          <a:p>
            <a:pPr indent="0" marL="0">
              <a:buNone/>
            </a:pPr>
            <a:r>
              <a:rPr lang="en-US" sz="3600" b="1" dirty="0">
                <a:solidFill>
                  <a:srgbClr val="F28C28"/>
                </a:solidFill>
                <a:latin typeface="Cambria" pitchFamily="34" charset="0"/>
                <a:ea typeface="Cambria" pitchFamily="34" charset="-122"/>
                <a:cs typeface="Cambria" pitchFamily="34" charset="-120"/>
              </a:rPr>
              <a:t>6,072</a:t>
            </a:r>
            <a:endParaRPr lang="en-US" sz="3600" dirty="0"/>
          </a:p>
        </p:txBody>
      </p:sp>
      <p:sp>
        <p:nvSpPr>
          <p:cNvPr id="9" name="Text 7"/>
          <p:cNvSpPr txBox="1"/>
          <p:nvPr/>
        </p:nvSpPr>
        <p:spPr>
          <a:xfrm>
            <a:off x="2926080" y="3355848"/>
            <a:ext cx="2606040" cy="10058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standards are withdrawn — yet 3 tenders still cite one</a:t>
            </a:r>
            <a:endParaRPr lang="en-US" sz="1400" dirty="0"/>
          </a:p>
        </p:txBody>
      </p:sp>
      <p:sp>
        <p:nvSpPr>
          <p:cNvPr id="10" name="Shape 8"/>
          <p:cNvSpPr/>
          <p:nvPr/>
        </p:nvSpPr>
        <p:spPr>
          <a:xfrm>
            <a:off x="548640" y="4709160"/>
            <a:ext cx="5120640" cy="1234440"/>
          </a:xfrm>
          <a:prstGeom prst="roundRect">
            <a:avLst>
              <a:gd name="adj" fmla="val 5926"/>
            </a:avLst>
          </a:prstGeom>
          <a:solidFill>
            <a:srgbClr val="F6F8FB"/>
          </a:solidFill>
          <a:ln w="9525">
            <a:solidFill>
              <a:srgbClr val="D5DEEA"/>
            </a:solidFill>
            <a:prstDash val="solid"/>
          </a:ln>
        </p:spPr>
      </p:sp>
      <p:sp>
        <p:nvSpPr>
          <p:cNvPr id="11" name="Text 9"/>
          <p:cNvSpPr txBox="1"/>
          <p:nvPr/>
        </p:nvSpPr>
        <p:spPr>
          <a:xfrm>
            <a:off x="777240" y="4818888"/>
            <a:ext cx="2103120" cy="1005840"/>
          </a:xfrm>
          <a:prstGeom prst="rect">
            <a:avLst/>
          </a:prstGeom>
          <a:noFill/>
          <a:ln/>
        </p:spPr>
        <p:txBody>
          <a:bodyPr wrap="square" lIns="0" tIns="0" rIns="0" bIns="0" rtlCol="0" anchor="ctr"/>
          <a:lstStyle/>
          <a:p>
            <a:pPr indent="0" marL="0">
              <a:buNone/>
            </a:pPr>
            <a:r>
              <a:rPr lang="en-US" sz="3600" b="1" dirty="0">
                <a:solidFill>
                  <a:srgbClr val="1D4F93"/>
                </a:solidFill>
                <a:latin typeface="Cambria" pitchFamily="34" charset="0"/>
                <a:ea typeface="Cambria" pitchFamily="34" charset="-122"/>
                <a:cs typeface="Cambria" pitchFamily="34" charset="-120"/>
              </a:rPr>
              <a:t>3,823</a:t>
            </a:r>
            <a:endParaRPr lang="en-US" sz="3600" dirty="0"/>
          </a:p>
        </p:txBody>
      </p:sp>
      <p:sp>
        <p:nvSpPr>
          <p:cNvPr id="12" name="Text 10"/>
          <p:cNvSpPr txBox="1"/>
          <p:nvPr/>
        </p:nvSpPr>
        <p:spPr>
          <a:xfrm>
            <a:off x="2926080" y="4818888"/>
            <a:ext cx="2606040" cy="10058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standards have a newer edition than the text usually circulated</a:t>
            </a:r>
            <a:endParaRPr lang="en-US" sz="1400" dirty="0"/>
          </a:p>
        </p:txBody>
      </p:sp>
      <p:sp>
        <p:nvSpPr>
          <p:cNvPr id="13" name="Shape 11"/>
          <p:cNvSpPr/>
          <p:nvPr/>
        </p:nvSpPr>
        <p:spPr>
          <a:xfrm>
            <a:off x="6172200" y="1828800"/>
            <a:ext cx="530352" cy="530352"/>
          </a:xfrm>
          <a:prstGeom prst="ellipse">
            <a:avLst/>
          </a:prstGeom>
          <a:solidFill>
            <a:srgbClr val="0F2748"/>
          </a:solidFill>
          <a:ln w="12700">
            <a:solidFill>
              <a:srgbClr val="0F2748"/>
            </a:solidFill>
            <a:prstDash val="solid"/>
          </a:ln>
        </p:spPr>
      </p:sp>
      <p:pic>
        <p:nvPicPr>
          <p:cNvPr id="14" name="Image 0" descr="preencoded.png">    </p:cNvPr>
          <p:cNvPicPr>
            <a:picLocks noChangeAspect="1"/>
          </p:cNvPicPr>
          <p:nvPr/>
        </p:nvPicPr>
        <p:blipFill>
          <a:blip r:embed="rId1"/>
          <a:stretch>
            <a:fillRect/>
          </a:stretch>
        </p:blipFill>
        <p:spPr>
          <a:xfrm>
            <a:off x="6299484" y="1956084"/>
            <a:ext cx="275783" cy="275783"/>
          </a:xfrm>
          <a:prstGeom prst="rect">
            <a:avLst/>
          </a:prstGeom>
        </p:spPr>
      </p:pic>
      <p:sp>
        <p:nvSpPr>
          <p:cNvPr id="15" name="Text 12"/>
          <p:cNvSpPr txBox="1"/>
          <p:nvPr/>
        </p:nvSpPr>
        <p:spPr>
          <a:xfrm>
            <a:off x="6903720" y="1783080"/>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Officers know the product, not the IS number</a:t>
            </a:r>
            <a:endParaRPr lang="en-US" sz="1500" dirty="0"/>
          </a:p>
        </p:txBody>
      </p:sp>
      <p:sp>
        <p:nvSpPr>
          <p:cNvPr id="16" name="Text 13"/>
          <p:cNvSpPr txBox="1"/>
          <p:nvPr/>
        </p:nvSpPr>
        <p:spPr>
          <a:xfrm>
            <a:off x="6903720" y="2112264"/>
            <a:ext cx="4754880" cy="457200"/>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Keyword search on titles fails for “GI pipe”, “सरिया”, “LED street light”.</a:t>
            </a:r>
            <a:endParaRPr lang="en-US" sz="1250" dirty="0"/>
          </a:p>
        </p:txBody>
      </p:sp>
      <p:sp>
        <p:nvSpPr>
          <p:cNvPr id="17" name="Shape 14"/>
          <p:cNvSpPr/>
          <p:nvPr/>
        </p:nvSpPr>
        <p:spPr>
          <a:xfrm>
            <a:off x="6172200" y="2724912"/>
            <a:ext cx="530352" cy="530352"/>
          </a:xfrm>
          <a:prstGeom prst="ellipse">
            <a:avLst/>
          </a:prstGeom>
          <a:solidFill>
            <a:srgbClr val="0F2748"/>
          </a:solidFill>
          <a:ln w="12700">
            <a:solidFill>
              <a:srgbClr val="0F2748"/>
            </a:solidFill>
            <a:prstDash val="solid"/>
          </a:ln>
        </p:spPr>
      </p:sp>
      <p:pic>
        <p:nvPicPr>
          <p:cNvPr id="18" name="Image 1" descr="preencoded.png">    </p:cNvPr>
          <p:cNvPicPr>
            <a:picLocks noChangeAspect="1"/>
          </p:cNvPicPr>
          <p:nvPr/>
        </p:nvPicPr>
        <p:blipFill>
          <a:blip r:embed="rId2"/>
          <a:stretch>
            <a:fillRect/>
          </a:stretch>
        </p:blipFill>
        <p:spPr>
          <a:xfrm>
            <a:off x="6299484" y="2852196"/>
            <a:ext cx="275783" cy="275783"/>
          </a:xfrm>
          <a:prstGeom prst="rect">
            <a:avLst/>
          </a:prstGeom>
        </p:spPr>
      </p:pic>
      <p:sp>
        <p:nvSpPr>
          <p:cNvPr id="19" name="Text 15"/>
          <p:cNvSpPr txBox="1"/>
          <p:nvPr/>
        </p:nvSpPr>
        <p:spPr>
          <a:xfrm>
            <a:off x="6903720" y="2679192"/>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A standard never travels alone</a:t>
            </a:r>
            <a:endParaRPr lang="en-US" sz="1500" dirty="0"/>
          </a:p>
        </p:txBody>
      </p:sp>
      <p:sp>
        <p:nvSpPr>
          <p:cNvPr id="20" name="Text 16"/>
          <p:cNvSpPr txBox="1"/>
          <p:nvPr/>
        </p:nvSpPr>
        <p:spPr>
          <a:xfrm>
            <a:off x="6903720" y="3008376"/>
            <a:ext cx="4754880" cy="457200"/>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Each one pulls in test methods, terminology, sampling — easy to miss.</a:t>
            </a:r>
            <a:endParaRPr lang="en-US" sz="1250" dirty="0"/>
          </a:p>
        </p:txBody>
      </p:sp>
      <p:sp>
        <p:nvSpPr>
          <p:cNvPr id="21" name="Shape 17"/>
          <p:cNvSpPr/>
          <p:nvPr/>
        </p:nvSpPr>
        <p:spPr>
          <a:xfrm>
            <a:off x="6172200" y="3621024"/>
            <a:ext cx="530352" cy="530352"/>
          </a:xfrm>
          <a:prstGeom prst="ellipse">
            <a:avLst/>
          </a:prstGeom>
          <a:solidFill>
            <a:srgbClr val="0F2748"/>
          </a:solidFill>
          <a:ln w="12700">
            <a:solidFill>
              <a:srgbClr val="0F2748"/>
            </a:solidFill>
            <a:prstDash val="solid"/>
          </a:ln>
        </p:spPr>
      </p:sp>
      <p:pic>
        <p:nvPicPr>
          <p:cNvPr id="22" name="Image 2" descr="preencoded.png">    </p:cNvPr>
          <p:cNvPicPr>
            <a:picLocks noChangeAspect="1"/>
          </p:cNvPicPr>
          <p:nvPr/>
        </p:nvPicPr>
        <p:blipFill>
          <a:blip r:embed="rId3"/>
          <a:stretch>
            <a:fillRect/>
          </a:stretch>
        </p:blipFill>
        <p:spPr>
          <a:xfrm>
            <a:off x="6299484" y="3748308"/>
            <a:ext cx="275783" cy="275783"/>
          </a:xfrm>
          <a:prstGeom prst="rect">
            <a:avLst/>
          </a:prstGeom>
        </p:spPr>
      </p:pic>
      <p:sp>
        <p:nvSpPr>
          <p:cNvPr id="23" name="Text 18"/>
          <p:cNvSpPr txBox="1"/>
          <p:nvPr/>
        </p:nvSpPr>
        <p:spPr>
          <a:xfrm>
            <a:off x="6903720" y="3575304"/>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Editions, amendments, withdrawals change</a:t>
            </a:r>
            <a:endParaRPr lang="en-US" sz="1500" dirty="0"/>
          </a:p>
        </p:txBody>
      </p:sp>
      <p:sp>
        <p:nvSpPr>
          <p:cNvPr id="24" name="Text 19"/>
          <p:cNvSpPr txBox="1"/>
          <p:nvPr/>
        </p:nvSpPr>
        <p:spPr>
          <a:xfrm>
            <a:off x="6903720" y="3904488"/>
            <a:ext cx="4754880" cy="457200"/>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Tenders quote superseded years; amendments go unnoticed.</a:t>
            </a:r>
            <a:endParaRPr lang="en-US" sz="1250" dirty="0"/>
          </a:p>
        </p:txBody>
      </p:sp>
      <p:sp>
        <p:nvSpPr>
          <p:cNvPr id="25" name="Shape 20"/>
          <p:cNvSpPr/>
          <p:nvPr/>
        </p:nvSpPr>
        <p:spPr>
          <a:xfrm>
            <a:off x="6172200" y="4517136"/>
            <a:ext cx="530352" cy="530352"/>
          </a:xfrm>
          <a:prstGeom prst="ellipse">
            <a:avLst/>
          </a:prstGeom>
          <a:solidFill>
            <a:srgbClr val="0F2748"/>
          </a:solidFill>
          <a:ln w="12700">
            <a:solidFill>
              <a:srgbClr val="0F2748"/>
            </a:solidFill>
            <a:prstDash val="solid"/>
          </a:ln>
        </p:spPr>
      </p:sp>
      <p:pic>
        <p:nvPicPr>
          <p:cNvPr id="26" name="Image 3" descr="preencoded.png">    </p:cNvPr>
          <p:cNvPicPr>
            <a:picLocks noChangeAspect="1"/>
          </p:cNvPicPr>
          <p:nvPr/>
        </p:nvPicPr>
        <p:blipFill>
          <a:blip r:embed="rId4"/>
          <a:stretch>
            <a:fillRect/>
          </a:stretch>
        </p:blipFill>
        <p:spPr>
          <a:xfrm>
            <a:off x="6299484" y="4644420"/>
            <a:ext cx="275783" cy="275783"/>
          </a:xfrm>
          <a:prstGeom prst="rect">
            <a:avLst/>
          </a:prstGeom>
        </p:spPr>
      </p:pic>
      <p:sp>
        <p:nvSpPr>
          <p:cNvPr id="27" name="Text 21"/>
          <p:cNvSpPr txBox="1"/>
          <p:nvPr/>
        </p:nvSpPr>
        <p:spPr>
          <a:xfrm>
            <a:off x="6903720" y="4471416"/>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Certification is a separate hunt</a:t>
            </a:r>
            <a:endParaRPr lang="en-US" sz="1500" dirty="0"/>
          </a:p>
        </p:txBody>
      </p:sp>
      <p:sp>
        <p:nvSpPr>
          <p:cNvPr id="28" name="Text 22"/>
          <p:cNvSpPr txBox="1"/>
          <p:nvPr/>
        </p:nvSpPr>
        <p:spPr>
          <a:xfrm>
            <a:off x="6903720" y="4800600"/>
            <a:ext cx="4754880" cy="457200"/>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ISI mark / CRS / hallmarking and the QCO must be looked up elsewhere.</a:t>
            </a:r>
            <a:endParaRPr lang="en-US" sz="1250" dirty="0"/>
          </a:p>
        </p:txBody>
      </p:sp>
      <p:sp>
        <p:nvSpPr>
          <p:cNvPr id="29" name="Shape 23"/>
          <p:cNvSpPr/>
          <p:nvPr/>
        </p:nvSpPr>
        <p:spPr>
          <a:xfrm>
            <a:off x="6172200" y="5413248"/>
            <a:ext cx="530352" cy="530352"/>
          </a:xfrm>
          <a:prstGeom prst="ellipse">
            <a:avLst/>
          </a:prstGeom>
          <a:solidFill>
            <a:srgbClr val="0F2748"/>
          </a:solidFill>
          <a:ln w="12700">
            <a:solidFill>
              <a:srgbClr val="0F2748"/>
            </a:solidFill>
            <a:prstDash val="solid"/>
          </a:ln>
        </p:spPr>
      </p:sp>
      <p:pic>
        <p:nvPicPr>
          <p:cNvPr id="30" name="Image 4" descr="preencoded.png">    </p:cNvPr>
          <p:cNvPicPr>
            <a:picLocks noChangeAspect="1"/>
          </p:cNvPicPr>
          <p:nvPr/>
        </p:nvPicPr>
        <p:blipFill>
          <a:blip r:embed="rId5"/>
          <a:stretch>
            <a:fillRect/>
          </a:stretch>
        </p:blipFill>
        <p:spPr>
          <a:xfrm>
            <a:off x="6299484" y="5540532"/>
            <a:ext cx="275783" cy="275783"/>
          </a:xfrm>
          <a:prstGeom prst="rect">
            <a:avLst/>
          </a:prstGeom>
        </p:spPr>
      </p:pic>
      <p:sp>
        <p:nvSpPr>
          <p:cNvPr id="31" name="Text 24"/>
          <p:cNvSpPr txBox="1"/>
          <p:nvPr/>
        </p:nvSpPr>
        <p:spPr>
          <a:xfrm>
            <a:off x="6903720" y="5367528"/>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English-only, no explanation</a:t>
            </a:r>
            <a:endParaRPr lang="en-US" sz="1500" dirty="0"/>
          </a:p>
        </p:txBody>
      </p:sp>
      <p:sp>
        <p:nvSpPr>
          <p:cNvPr id="32" name="Text 25"/>
          <p:cNvSpPr txBox="1"/>
          <p:nvPr/>
        </p:nvSpPr>
        <p:spPr>
          <a:xfrm>
            <a:off x="6903720" y="5696712"/>
            <a:ext cx="4754880" cy="457200"/>
          </a:xfrm>
          <a:prstGeom prst="rect">
            <a:avLst/>
          </a:prstGeom>
          <a:noFill/>
          <a:ln/>
        </p:spPr>
        <p:txBody>
          <a:bodyPr wrap="square" lIns="0" tIns="0" rIns="0" bIns="0" rtlCol="0" anchor="ctr"/>
          <a:lstStyle/>
          <a:p>
            <a:pPr indent="0" marL="0">
              <a:buNone/>
            </a:pPr>
            <a:r>
              <a:rPr lang="en-US" sz="1250" dirty="0">
                <a:solidFill>
                  <a:srgbClr val="5B6B80"/>
                </a:solidFill>
                <a:latin typeface="Calibri" pitchFamily="34" charset="0"/>
                <a:ea typeface="Calibri" pitchFamily="34" charset="-122"/>
                <a:cs typeface="Calibri" pitchFamily="34" charset="-120"/>
              </a:rPr>
              <a:t>Buyers write in Indian languages; auditors need a reason trace.</a:t>
            </a:r>
            <a:endParaRPr lang="en-US" sz="1250" dirty="0"/>
          </a:p>
        </p:txBody>
      </p:sp>
      <p:sp>
        <p:nvSpPr>
          <p:cNvPr id="33" name="Text 2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Describe it in any language — get the complete answer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One query or one uploaded tender returns seven things, each with its source and date</a:t>
            </a:r>
            <a:endParaRPr lang="en-US" sz="1600" dirty="0"/>
          </a:p>
        </p:txBody>
      </p:sp>
      <p:sp>
        <p:nvSpPr>
          <p:cNvPr id="4" name="Shape 2"/>
          <p:cNvSpPr/>
          <p:nvPr/>
        </p:nvSpPr>
        <p:spPr>
          <a:xfrm>
            <a:off x="548640" y="1874520"/>
            <a:ext cx="1517904" cy="2834640"/>
          </a:xfrm>
          <a:prstGeom prst="roundRect">
            <a:avLst>
              <a:gd name="adj" fmla="val 6024"/>
            </a:avLst>
          </a:prstGeom>
          <a:solidFill>
            <a:srgbClr val="0F2748"/>
          </a:solidFill>
          <a:ln w="9525">
            <a:solidFill>
              <a:srgbClr val="0F2748"/>
            </a:solidFill>
            <a:prstDash val="solid"/>
          </a:ln>
        </p:spPr>
      </p:sp>
      <p:sp>
        <p:nvSpPr>
          <p:cNvPr id="5" name="Shape 3"/>
          <p:cNvSpPr/>
          <p:nvPr/>
        </p:nvSpPr>
        <p:spPr>
          <a:xfrm>
            <a:off x="987552" y="2148840"/>
            <a:ext cx="640080" cy="640080"/>
          </a:xfrm>
          <a:prstGeom prst="ellipse">
            <a:avLst/>
          </a:prstGeom>
          <a:solidFill>
            <a:srgbClr val="F28C28"/>
          </a:solidFill>
          <a:ln w="12700">
            <a:solidFill>
              <a:srgbClr val="F28C28"/>
            </a:solidFill>
            <a:prstDash val="solid"/>
          </a:ln>
        </p:spPr>
      </p:sp>
      <p:pic>
        <p:nvPicPr>
          <p:cNvPr id="6" name="Image 0" descr="preencoded.png">    </p:cNvPr>
          <p:cNvPicPr>
            <a:picLocks noChangeAspect="1"/>
          </p:cNvPicPr>
          <p:nvPr/>
        </p:nvPicPr>
        <p:blipFill>
          <a:blip r:embed="rId1"/>
          <a:stretch>
            <a:fillRect/>
          </a:stretch>
        </p:blipFill>
        <p:spPr>
          <a:xfrm>
            <a:off x="1141171" y="2302459"/>
            <a:ext cx="332842" cy="332842"/>
          </a:xfrm>
          <a:prstGeom prst="rect">
            <a:avLst/>
          </a:prstGeom>
        </p:spPr>
      </p:pic>
      <p:sp>
        <p:nvSpPr>
          <p:cNvPr id="7" name="Text 4"/>
          <p:cNvSpPr txBox="1"/>
          <p:nvPr/>
        </p:nvSpPr>
        <p:spPr>
          <a:xfrm>
            <a:off x="658368" y="1965960"/>
            <a:ext cx="365760" cy="274320"/>
          </a:xfrm>
          <a:prstGeom prst="rect">
            <a:avLst/>
          </a:prstGeom>
          <a:noFill/>
          <a:ln/>
        </p:spPr>
        <p:txBody>
          <a:bodyPr wrap="square" lIns="0" tIns="0" rIns="0" bIns="0" rtlCol="0" anchor="ctr"/>
          <a:lstStyle/>
          <a:p>
            <a:pPr indent="0" marL="0">
              <a:buNone/>
            </a:pPr>
            <a:r>
              <a:rPr lang="en-US" sz="1200" b="1" dirty="0">
                <a:solidFill>
                  <a:srgbClr val="A9BAD3"/>
                </a:solidFill>
                <a:latin typeface="Cambria" pitchFamily="34" charset="0"/>
                <a:ea typeface="Cambria" pitchFamily="34" charset="-122"/>
                <a:cs typeface="Cambria" pitchFamily="34" charset="-120"/>
              </a:rPr>
              <a:t>1</a:t>
            </a:r>
            <a:endParaRPr lang="en-US" sz="1200" dirty="0"/>
          </a:p>
        </p:txBody>
      </p:sp>
      <p:sp>
        <p:nvSpPr>
          <p:cNvPr id="8" name="Text 5"/>
          <p:cNvSpPr txBox="1"/>
          <p:nvPr/>
        </p:nvSpPr>
        <p:spPr>
          <a:xfrm>
            <a:off x="640080" y="2926080"/>
            <a:ext cx="1335024"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Describe</a:t>
            </a:r>
            <a:endParaRPr lang="en-US" sz="1600" dirty="0"/>
          </a:p>
        </p:txBody>
      </p:sp>
      <p:sp>
        <p:nvSpPr>
          <p:cNvPr id="9" name="Text 6"/>
          <p:cNvSpPr txBox="1"/>
          <p:nvPr/>
        </p:nvSpPr>
        <p:spPr>
          <a:xfrm>
            <a:off x="658368" y="3429000"/>
            <a:ext cx="1298448" cy="1143000"/>
          </a:xfrm>
          <a:prstGeom prst="rect">
            <a:avLst/>
          </a:prstGeom>
          <a:noFill/>
          <a:ln/>
        </p:spPr>
        <p:txBody>
          <a:bodyPr wrap="square" lIns="0" tIns="0" rIns="0" bIns="0" rtlCol="0" anchor="t"/>
          <a:lstStyle/>
          <a:p>
            <a:pPr algn="ctr" indent="0" marL="0">
              <a:buNone/>
            </a:pPr>
            <a:r>
              <a:rPr lang="en-US" sz="1200" dirty="0">
                <a:solidFill>
                  <a:srgbClr val="DCE5F2"/>
                </a:solidFill>
                <a:latin typeface="Calibri" pitchFamily="34" charset="0"/>
                <a:ea typeface="Calibri" pitchFamily="34" charset="-122"/>
                <a:cs typeface="Calibri" pitchFamily="34" charset="-120"/>
              </a:rPr>
              <a:t>text, voice, Hindi… or upload a tender / GeM bid</a:t>
            </a:r>
            <a:endParaRPr lang="en-US" sz="1200" dirty="0"/>
          </a:p>
        </p:txBody>
      </p:sp>
      <p:sp>
        <p:nvSpPr>
          <p:cNvPr id="10" name="Shape 7"/>
          <p:cNvSpPr/>
          <p:nvPr/>
        </p:nvSpPr>
        <p:spPr>
          <a:xfrm>
            <a:off x="2176272" y="1874520"/>
            <a:ext cx="1517904" cy="2834640"/>
          </a:xfrm>
          <a:prstGeom prst="roundRect">
            <a:avLst>
              <a:gd name="adj" fmla="val 6024"/>
            </a:avLst>
          </a:prstGeom>
          <a:solidFill>
            <a:srgbClr val="E8EEF7"/>
          </a:solidFill>
          <a:ln w="9525">
            <a:solidFill>
              <a:srgbClr val="D5DEEA"/>
            </a:solidFill>
            <a:prstDash val="solid"/>
          </a:ln>
        </p:spPr>
      </p:sp>
      <p:sp>
        <p:nvSpPr>
          <p:cNvPr id="11" name="Shape 8"/>
          <p:cNvSpPr/>
          <p:nvPr/>
        </p:nvSpPr>
        <p:spPr>
          <a:xfrm>
            <a:off x="2615184" y="2148840"/>
            <a:ext cx="640080" cy="640080"/>
          </a:xfrm>
          <a:prstGeom prst="ellipse">
            <a:avLst/>
          </a:prstGeom>
          <a:solidFill>
            <a:srgbClr val="0F2748"/>
          </a:solidFill>
          <a:ln w="12700">
            <a:solidFill>
              <a:srgbClr val="0F2748"/>
            </a:solidFill>
            <a:prstDash val="solid"/>
          </a:ln>
        </p:spPr>
      </p:sp>
      <p:pic>
        <p:nvPicPr>
          <p:cNvPr id="12" name="Image 1" descr="preencoded.png">    </p:cNvPr>
          <p:cNvPicPr>
            <a:picLocks noChangeAspect="1"/>
          </p:cNvPicPr>
          <p:nvPr/>
        </p:nvPicPr>
        <p:blipFill>
          <a:blip r:embed="rId2"/>
          <a:stretch>
            <a:fillRect/>
          </a:stretch>
        </p:blipFill>
        <p:spPr>
          <a:xfrm>
            <a:off x="2768803" y="2302459"/>
            <a:ext cx="332842" cy="332842"/>
          </a:xfrm>
          <a:prstGeom prst="rect">
            <a:avLst/>
          </a:prstGeom>
        </p:spPr>
      </p:pic>
      <p:sp>
        <p:nvSpPr>
          <p:cNvPr id="13" name="Text 9"/>
          <p:cNvSpPr txBox="1"/>
          <p:nvPr/>
        </p:nvSpPr>
        <p:spPr>
          <a:xfrm>
            <a:off x="2286000" y="1965960"/>
            <a:ext cx="365760" cy="274320"/>
          </a:xfrm>
          <a:prstGeom prst="rect">
            <a:avLst/>
          </a:prstGeom>
          <a:noFill/>
          <a:ln/>
        </p:spPr>
        <p:txBody>
          <a:bodyPr wrap="square" lIns="0" tIns="0" rIns="0" bIns="0" rtlCol="0" anchor="ctr"/>
          <a:lstStyle/>
          <a:p>
            <a:pPr indent="0" marL="0">
              <a:buNone/>
            </a:pPr>
            <a:r>
              <a:rPr lang="en-US" sz="1200" b="1" dirty="0">
                <a:solidFill>
                  <a:srgbClr val="5B6B80"/>
                </a:solidFill>
                <a:latin typeface="Cambria" pitchFamily="34" charset="0"/>
                <a:ea typeface="Cambria" pitchFamily="34" charset="-122"/>
                <a:cs typeface="Cambria" pitchFamily="34" charset="-120"/>
              </a:rPr>
              <a:t>2</a:t>
            </a:r>
            <a:endParaRPr lang="en-US" sz="1200" dirty="0"/>
          </a:p>
        </p:txBody>
      </p:sp>
      <p:sp>
        <p:nvSpPr>
          <p:cNvPr id="14" name="Text 10"/>
          <p:cNvSpPr txBox="1"/>
          <p:nvPr/>
        </p:nvSpPr>
        <p:spPr>
          <a:xfrm>
            <a:off x="2267712" y="2926080"/>
            <a:ext cx="1335024" cy="45720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Recommend</a:t>
            </a:r>
            <a:endParaRPr lang="en-US" sz="1600" dirty="0"/>
          </a:p>
        </p:txBody>
      </p:sp>
      <p:sp>
        <p:nvSpPr>
          <p:cNvPr id="15" name="Text 11"/>
          <p:cNvSpPr txBox="1"/>
          <p:nvPr/>
        </p:nvSpPr>
        <p:spPr>
          <a:xfrm>
            <a:off x="2286000" y="3429000"/>
            <a:ext cx="129844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ranked IS with a confidence level — or an honest abstain</a:t>
            </a:r>
            <a:endParaRPr lang="en-US" sz="1200" dirty="0"/>
          </a:p>
        </p:txBody>
      </p:sp>
      <p:sp>
        <p:nvSpPr>
          <p:cNvPr id="16" name="Shape 12"/>
          <p:cNvSpPr/>
          <p:nvPr/>
        </p:nvSpPr>
        <p:spPr>
          <a:xfrm>
            <a:off x="3803904" y="1874520"/>
            <a:ext cx="1517904" cy="2834640"/>
          </a:xfrm>
          <a:prstGeom prst="roundRect">
            <a:avLst>
              <a:gd name="adj" fmla="val 6024"/>
            </a:avLst>
          </a:prstGeom>
          <a:solidFill>
            <a:srgbClr val="E8EEF7"/>
          </a:solidFill>
          <a:ln w="9525">
            <a:solidFill>
              <a:srgbClr val="D5DEEA"/>
            </a:solidFill>
            <a:prstDash val="solid"/>
          </a:ln>
        </p:spPr>
      </p:sp>
      <p:sp>
        <p:nvSpPr>
          <p:cNvPr id="17" name="Shape 13"/>
          <p:cNvSpPr/>
          <p:nvPr/>
        </p:nvSpPr>
        <p:spPr>
          <a:xfrm>
            <a:off x="4242816" y="2148840"/>
            <a:ext cx="640080" cy="640080"/>
          </a:xfrm>
          <a:prstGeom prst="ellipse">
            <a:avLst/>
          </a:prstGeom>
          <a:solidFill>
            <a:srgbClr val="0F2748"/>
          </a:solidFill>
          <a:ln w="12700">
            <a:solidFill>
              <a:srgbClr val="0F2748"/>
            </a:solidFill>
            <a:prstDash val="solid"/>
          </a:ln>
        </p:spPr>
      </p:sp>
      <p:pic>
        <p:nvPicPr>
          <p:cNvPr id="18" name="Image 2" descr="preencoded.png">    </p:cNvPr>
          <p:cNvPicPr>
            <a:picLocks noChangeAspect="1"/>
          </p:cNvPicPr>
          <p:nvPr/>
        </p:nvPicPr>
        <p:blipFill>
          <a:blip r:embed="rId3"/>
          <a:stretch>
            <a:fillRect/>
          </a:stretch>
        </p:blipFill>
        <p:spPr>
          <a:xfrm>
            <a:off x="4396435" y="2302459"/>
            <a:ext cx="332842" cy="332842"/>
          </a:xfrm>
          <a:prstGeom prst="rect">
            <a:avLst/>
          </a:prstGeom>
        </p:spPr>
      </p:pic>
      <p:sp>
        <p:nvSpPr>
          <p:cNvPr id="19" name="Text 14"/>
          <p:cNvSpPr txBox="1"/>
          <p:nvPr/>
        </p:nvSpPr>
        <p:spPr>
          <a:xfrm>
            <a:off x="3913632" y="1965960"/>
            <a:ext cx="365760" cy="274320"/>
          </a:xfrm>
          <a:prstGeom prst="rect">
            <a:avLst/>
          </a:prstGeom>
          <a:noFill/>
          <a:ln/>
        </p:spPr>
        <p:txBody>
          <a:bodyPr wrap="square" lIns="0" tIns="0" rIns="0" bIns="0" rtlCol="0" anchor="ctr"/>
          <a:lstStyle/>
          <a:p>
            <a:pPr indent="0" marL="0">
              <a:buNone/>
            </a:pPr>
            <a:r>
              <a:rPr lang="en-US" sz="1200" b="1" dirty="0">
                <a:solidFill>
                  <a:srgbClr val="5B6B80"/>
                </a:solidFill>
                <a:latin typeface="Cambria" pitchFamily="34" charset="0"/>
                <a:ea typeface="Cambria" pitchFamily="34" charset="-122"/>
                <a:cs typeface="Cambria" pitchFamily="34" charset="-120"/>
              </a:rPr>
              <a:t>3</a:t>
            </a:r>
            <a:endParaRPr lang="en-US" sz="1200" dirty="0"/>
          </a:p>
        </p:txBody>
      </p:sp>
      <p:sp>
        <p:nvSpPr>
          <p:cNvPr id="20" name="Text 15"/>
          <p:cNvSpPr txBox="1"/>
          <p:nvPr/>
        </p:nvSpPr>
        <p:spPr>
          <a:xfrm>
            <a:off x="3895344" y="2926080"/>
            <a:ext cx="1335024" cy="45720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Depends on</a:t>
            </a:r>
            <a:endParaRPr lang="en-US" sz="1600" dirty="0"/>
          </a:p>
        </p:txBody>
      </p:sp>
      <p:sp>
        <p:nvSpPr>
          <p:cNvPr id="21" name="Text 16"/>
          <p:cNvSpPr txBox="1"/>
          <p:nvPr/>
        </p:nvSpPr>
        <p:spPr>
          <a:xfrm>
            <a:off x="3913632" y="3429000"/>
            <a:ext cx="129844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normative references, test methods — compliance tree</a:t>
            </a:r>
            <a:endParaRPr lang="en-US" sz="1200" dirty="0"/>
          </a:p>
        </p:txBody>
      </p:sp>
      <p:sp>
        <p:nvSpPr>
          <p:cNvPr id="22" name="Shape 17"/>
          <p:cNvSpPr/>
          <p:nvPr/>
        </p:nvSpPr>
        <p:spPr>
          <a:xfrm>
            <a:off x="5431536" y="1874520"/>
            <a:ext cx="1517904" cy="2834640"/>
          </a:xfrm>
          <a:prstGeom prst="roundRect">
            <a:avLst>
              <a:gd name="adj" fmla="val 6024"/>
            </a:avLst>
          </a:prstGeom>
          <a:solidFill>
            <a:srgbClr val="E8EEF7"/>
          </a:solidFill>
          <a:ln w="9525">
            <a:solidFill>
              <a:srgbClr val="D5DEEA"/>
            </a:solidFill>
            <a:prstDash val="solid"/>
          </a:ln>
        </p:spPr>
      </p:sp>
      <p:sp>
        <p:nvSpPr>
          <p:cNvPr id="23" name="Shape 18"/>
          <p:cNvSpPr/>
          <p:nvPr/>
        </p:nvSpPr>
        <p:spPr>
          <a:xfrm>
            <a:off x="5870448" y="2148840"/>
            <a:ext cx="640080" cy="640080"/>
          </a:xfrm>
          <a:prstGeom prst="ellipse">
            <a:avLst/>
          </a:prstGeom>
          <a:solidFill>
            <a:srgbClr val="0F2748"/>
          </a:solidFill>
          <a:ln w="12700">
            <a:solidFill>
              <a:srgbClr val="0F2748"/>
            </a:solidFill>
            <a:prstDash val="solid"/>
          </a:ln>
        </p:spPr>
      </p:sp>
      <p:pic>
        <p:nvPicPr>
          <p:cNvPr id="24" name="Image 3" descr="preencoded.png">    </p:cNvPr>
          <p:cNvPicPr>
            <a:picLocks noChangeAspect="1"/>
          </p:cNvPicPr>
          <p:nvPr/>
        </p:nvPicPr>
        <p:blipFill>
          <a:blip r:embed="rId4"/>
          <a:stretch>
            <a:fillRect/>
          </a:stretch>
        </p:blipFill>
        <p:spPr>
          <a:xfrm>
            <a:off x="6024067" y="2302459"/>
            <a:ext cx="332842" cy="332842"/>
          </a:xfrm>
          <a:prstGeom prst="rect">
            <a:avLst/>
          </a:prstGeom>
        </p:spPr>
      </p:pic>
      <p:sp>
        <p:nvSpPr>
          <p:cNvPr id="25" name="Text 19"/>
          <p:cNvSpPr txBox="1"/>
          <p:nvPr/>
        </p:nvSpPr>
        <p:spPr>
          <a:xfrm>
            <a:off x="5541264" y="1965960"/>
            <a:ext cx="365760" cy="274320"/>
          </a:xfrm>
          <a:prstGeom prst="rect">
            <a:avLst/>
          </a:prstGeom>
          <a:noFill/>
          <a:ln/>
        </p:spPr>
        <p:txBody>
          <a:bodyPr wrap="square" lIns="0" tIns="0" rIns="0" bIns="0" rtlCol="0" anchor="ctr"/>
          <a:lstStyle/>
          <a:p>
            <a:pPr indent="0" marL="0">
              <a:buNone/>
            </a:pPr>
            <a:r>
              <a:rPr lang="en-US" sz="1200" b="1" dirty="0">
                <a:solidFill>
                  <a:srgbClr val="5B6B80"/>
                </a:solidFill>
                <a:latin typeface="Cambria" pitchFamily="34" charset="0"/>
                <a:ea typeface="Cambria" pitchFamily="34" charset="-122"/>
                <a:cs typeface="Cambria" pitchFamily="34" charset="-120"/>
              </a:rPr>
              <a:t>4</a:t>
            </a:r>
            <a:endParaRPr lang="en-US" sz="1200" dirty="0"/>
          </a:p>
        </p:txBody>
      </p:sp>
      <p:sp>
        <p:nvSpPr>
          <p:cNvPr id="26" name="Text 20"/>
          <p:cNvSpPr txBox="1"/>
          <p:nvPr/>
        </p:nvSpPr>
        <p:spPr>
          <a:xfrm>
            <a:off x="5522976" y="2926080"/>
            <a:ext cx="1335024" cy="45720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Edition in force</a:t>
            </a:r>
            <a:endParaRPr lang="en-US" sz="1600" dirty="0"/>
          </a:p>
        </p:txBody>
      </p:sp>
      <p:sp>
        <p:nvSpPr>
          <p:cNvPr id="27" name="Text 21"/>
          <p:cNvSpPr txBox="1"/>
          <p:nvPr/>
        </p:nvSpPr>
        <p:spPr>
          <a:xfrm>
            <a:off x="5541264" y="3429000"/>
            <a:ext cx="129844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status, amendments, replacement if withdrawn</a:t>
            </a:r>
            <a:endParaRPr lang="en-US" sz="1200" dirty="0"/>
          </a:p>
        </p:txBody>
      </p:sp>
      <p:sp>
        <p:nvSpPr>
          <p:cNvPr id="28" name="Shape 22"/>
          <p:cNvSpPr/>
          <p:nvPr/>
        </p:nvSpPr>
        <p:spPr>
          <a:xfrm>
            <a:off x="7059168" y="1874520"/>
            <a:ext cx="1517904" cy="2834640"/>
          </a:xfrm>
          <a:prstGeom prst="roundRect">
            <a:avLst>
              <a:gd name="adj" fmla="val 6024"/>
            </a:avLst>
          </a:prstGeom>
          <a:solidFill>
            <a:srgbClr val="E8EEF7"/>
          </a:solidFill>
          <a:ln w="9525">
            <a:solidFill>
              <a:srgbClr val="D5DEEA"/>
            </a:solidFill>
            <a:prstDash val="solid"/>
          </a:ln>
        </p:spPr>
      </p:sp>
      <p:sp>
        <p:nvSpPr>
          <p:cNvPr id="29" name="Shape 23"/>
          <p:cNvSpPr/>
          <p:nvPr/>
        </p:nvSpPr>
        <p:spPr>
          <a:xfrm>
            <a:off x="7498080" y="2148840"/>
            <a:ext cx="640080" cy="640080"/>
          </a:xfrm>
          <a:prstGeom prst="ellipse">
            <a:avLst/>
          </a:prstGeom>
          <a:solidFill>
            <a:srgbClr val="0F2748"/>
          </a:solidFill>
          <a:ln w="12700">
            <a:solidFill>
              <a:srgbClr val="0F2748"/>
            </a:solidFill>
            <a:prstDash val="solid"/>
          </a:ln>
        </p:spPr>
      </p:sp>
      <p:pic>
        <p:nvPicPr>
          <p:cNvPr id="30" name="Image 4" descr="preencoded.png">    </p:cNvPr>
          <p:cNvPicPr>
            <a:picLocks noChangeAspect="1"/>
          </p:cNvPicPr>
          <p:nvPr/>
        </p:nvPicPr>
        <p:blipFill>
          <a:blip r:embed="rId5"/>
          <a:stretch>
            <a:fillRect/>
          </a:stretch>
        </p:blipFill>
        <p:spPr>
          <a:xfrm>
            <a:off x="7651699" y="2302459"/>
            <a:ext cx="332842" cy="332842"/>
          </a:xfrm>
          <a:prstGeom prst="rect">
            <a:avLst/>
          </a:prstGeom>
        </p:spPr>
      </p:pic>
      <p:sp>
        <p:nvSpPr>
          <p:cNvPr id="31" name="Text 24"/>
          <p:cNvSpPr txBox="1"/>
          <p:nvPr/>
        </p:nvSpPr>
        <p:spPr>
          <a:xfrm>
            <a:off x="7168896" y="1965960"/>
            <a:ext cx="365760" cy="274320"/>
          </a:xfrm>
          <a:prstGeom prst="rect">
            <a:avLst/>
          </a:prstGeom>
          <a:noFill/>
          <a:ln/>
        </p:spPr>
        <p:txBody>
          <a:bodyPr wrap="square" lIns="0" tIns="0" rIns="0" bIns="0" rtlCol="0" anchor="ctr"/>
          <a:lstStyle/>
          <a:p>
            <a:pPr indent="0" marL="0">
              <a:buNone/>
            </a:pPr>
            <a:r>
              <a:rPr lang="en-US" sz="1200" b="1" dirty="0">
                <a:solidFill>
                  <a:srgbClr val="5B6B80"/>
                </a:solidFill>
                <a:latin typeface="Cambria" pitchFamily="34" charset="0"/>
                <a:ea typeface="Cambria" pitchFamily="34" charset="-122"/>
                <a:cs typeface="Cambria" pitchFamily="34" charset="-120"/>
              </a:rPr>
              <a:t>5</a:t>
            </a:r>
            <a:endParaRPr lang="en-US" sz="1200" dirty="0"/>
          </a:p>
        </p:txBody>
      </p:sp>
      <p:sp>
        <p:nvSpPr>
          <p:cNvPr id="32" name="Text 25"/>
          <p:cNvSpPr txBox="1"/>
          <p:nvPr/>
        </p:nvSpPr>
        <p:spPr>
          <a:xfrm>
            <a:off x="7150608" y="2926080"/>
            <a:ext cx="1335024" cy="45720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Certification</a:t>
            </a:r>
            <a:endParaRPr lang="en-US" sz="1600" dirty="0"/>
          </a:p>
        </p:txBody>
      </p:sp>
      <p:sp>
        <p:nvSpPr>
          <p:cNvPr id="33" name="Text 26"/>
          <p:cNvSpPr txBox="1"/>
          <p:nvPr/>
        </p:nvSpPr>
        <p:spPr>
          <a:xfrm>
            <a:off x="7168896" y="3429000"/>
            <a:ext cx="129844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ISI mark / CRS with the Quality Control Order</a:t>
            </a:r>
            <a:endParaRPr lang="en-US" sz="1200" dirty="0"/>
          </a:p>
        </p:txBody>
      </p:sp>
      <p:sp>
        <p:nvSpPr>
          <p:cNvPr id="34" name="Shape 27"/>
          <p:cNvSpPr/>
          <p:nvPr/>
        </p:nvSpPr>
        <p:spPr>
          <a:xfrm>
            <a:off x="8686800" y="1874520"/>
            <a:ext cx="1517904" cy="2834640"/>
          </a:xfrm>
          <a:prstGeom prst="roundRect">
            <a:avLst>
              <a:gd name="adj" fmla="val 6024"/>
            </a:avLst>
          </a:prstGeom>
          <a:solidFill>
            <a:srgbClr val="E8EEF7"/>
          </a:solidFill>
          <a:ln w="9525">
            <a:solidFill>
              <a:srgbClr val="D5DEEA"/>
            </a:solidFill>
            <a:prstDash val="solid"/>
          </a:ln>
        </p:spPr>
      </p:sp>
      <p:sp>
        <p:nvSpPr>
          <p:cNvPr id="35" name="Shape 28"/>
          <p:cNvSpPr/>
          <p:nvPr/>
        </p:nvSpPr>
        <p:spPr>
          <a:xfrm>
            <a:off x="9125712" y="2148840"/>
            <a:ext cx="640080" cy="640080"/>
          </a:xfrm>
          <a:prstGeom prst="ellipse">
            <a:avLst/>
          </a:prstGeom>
          <a:solidFill>
            <a:srgbClr val="0F2748"/>
          </a:solidFill>
          <a:ln w="12700">
            <a:solidFill>
              <a:srgbClr val="0F2748"/>
            </a:solidFill>
            <a:prstDash val="solid"/>
          </a:ln>
        </p:spPr>
      </p:sp>
      <p:pic>
        <p:nvPicPr>
          <p:cNvPr id="36" name="Image 5" descr="preencoded.png">    </p:cNvPr>
          <p:cNvPicPr>
            <a:picLocks noChangeAspect="1"/>
          </p:cNvPicPr>
          <p:nvPr/>
        </p:nvPicPr>
        <p:blipFill>
          <a:blip r:embed="rId6"/>
          <a:stretch>
            <a:fillRect/>
          </a:stretch>
        </p:blipFill>
        <p:spPr>
          <a:xfrm>
            <a:off x="9279331" y="2302459"/>
            <a:ext cx="332842" cy="332842"/>
          </a:xfrm>
          <a:prstGeom prst="rect">
            <a:avLst/>
          </a:prstGeom>
        </p:spPr>
      </p:pic>
      <p:sp>
        <p:nvSpPr>
          <p:cNvPr id="37" name="Text 29"/>
          <p:cNvSpPr txBox="1"/>
          <p:nvPr/>
        </p:nvSpPr>
        <p:spPr>
          <a:xfrm>
            <a:off x="8796528" y="1965960"/>
            <a:ext cx="365760" cy="274320"/>
          </a:xfrm>
          <a:prstGeom prst="rect">
            <a:avLst/>
          </a:prstGeom>
          <a:noFill/>
          <a:ln/>
        </p:spPr>
        <p:txBody>
          <a:bodyPr wrap="square" lIns="0" tIns="0" rIns="0" bIns="0" rtlCol="0" anchor="ctr"/>
          <a:lstStyle/>
          <a:p>
            <a:pPr indent="0" marL="0">
              <a:buNone/>
            </a:pPr>
            <a:r>
              <a:rPr lang="en-US" sz="1200" b="1" dirty="0">
                <a:solidFill>
                  <a:srgbClr val="5B6B80"/>
                </a:solidFill>
                <a:latin typeface="Cambria" pitchFamily="34" charset="0"/>
                <a:ea typeface="Cambria" pitchFamily="34" charset="-122"/>
                <a:cs typeface="Cambria" pitchFamily="34" charset="-120"/>
              </a:rPr>
              <a:t>6</a:t>
            </a:r>
            <a:endParaRPr lang="en-US" sz="1200" dirty="0"/>
          </a:p>
        </p:txBody>
      </p:sp>
      <p:sp>
        <p:nvSpPr>
          <p:cNvPr id="38" name="Text 30"/>
          <p:cNvSpPr txBox="1"/>
          <p:nvPr/>
        </p:nvSpPr>
        <p:spPr>
          <a:xfrm>
            <a:off x="8778240" y="2926080"/>
            <a:ext cx="1335024" cy="45720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Where to test</a:t>
            </a:r>
            <a:endParaRPr lang="en-US" sz="1600" dirty="0"/>
          </a:p>
        </p:txBody>
      </p:sp>
      <p:sp>
        <p:nvSpPr>
          <p:cNvPr id="39" name="Text 31"/>
          <p:cNvSpPr txBox="1"/>
          <p:nvPr/>
        </p:nvSpPr>
        <p:spPr>
          <a:xfrm>
            <a:off x="8796528" y="3429000"/>
            <a:ext cx="129844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BIS-recognised labs, charges, city</a:t>
            </a:r>
            <a:endParaRPr lang="en-US" sz="1200" dirty="0"/>
          </a:p>
        </p:txBody>
      </p:sp>
      <p:sp>
        <p:nvSpPr>
          <p:cNvPr id="40" name="Shape 32"/>
          <p:cNvSpPr/>
          <p:nvPr/>
        </p:nvSpPr>
        <p:spPr>
          <a:xfrm>
            <a:off x="10314432" y="1874520"/>
            <a:ext cx="1517904" cy="2834640"/>
          </a:xfrm>
          <a:prstGeom prst="roundRect">
            <a:avLst>
              <a:gd name="adj" fmla="val 6024"/>
            </a:avLst>
          </a:prstGeom>
          <a:solidFill>
            <a:srgbClr val="0F2748"/>
          </a:solidFill>
          <a:ln w="9525">
            <a:solidFill>
              <a:srgbClr val="0F2748"/>
            </a:solidFill>
            <a:prstDash val="solid"/>
          </a:ln>
        </p:spPr>
      </p:sp>
      <p:sp>
        <p:nvSpPr>
          <p:cNvPr id="41" name="Shape 33"/>
          <p:cNvSpPr/>
          <p:nvPr/>
        </p:nvSpPr>
        <p:spPr>
          <a:xfrm>
            <a:off x="10753344" y="2148840"/>
            <a:ext cx="640080" cy="640080"/>
          </a:xfrm>
          <a:prstGeom prst="ellipse">
            <a:avLst/>
          </a:prstGeom>
          <a:solidFill>
            <a:srgbClr val="F28C28"/>
          </a:solidFill>
          <a:ln w="12700">
            <a:solidFill>
              <a:srgbClr val="F28C28"/>
            </a:solidFill>
            <a:prstDash val="solid"/>
          </a:ln>
        </p:spPr>
      </p:sp>
      <p:pic>
        <p:nvPicPr>
          <p:cNvPr id="42" name="Image 6" descr="preencoded.png">    </p:cNvPr>
          <p:cNvPicPr>
            <a:picLocks noChangeAspect="1"/>
          </p:cNvPicPr>
          <p:nvPr/>
        </p:nvPicPr>
        <p:blipFill>
          <a:blip r:embed="rId7"/>
          <a:stretch>
            <a:fillRect/>
          </a:stretch>
        </p:blipFill>
        <p:spPr>
          <a:xfrm>
            <a:off x="10906963" y="2302459"/>
            <a:ext cx="332842" cy="332842"/>
          </a:xfrm>
          <a:prstGeom prst="rect">
            <a:avLst/>
          </a:prstGeom>
        </p:spPr>
      </p:pic>
      <p:sp>
        <p:nvSpPr>
          <p:cNvPr id="43" name="Text 34"/>
          <p:cNvSpPr txBox="1"/>
          <p:nvPr/>
        </p:nvSpPr>
        <p:spPr>
          <a:xfrm>
            <a:off x="10424160" y="1965960"/>
            <a:ext cx="365760" cy="274320"/>
          </a:xfrm>
          <a:prstGeom prst="rect">
            <a:avLst/>
          </a:prstGeom>
          <a:noFill/>
          <a:ln/>
        </p:spPr>
        <p:txBody>
          <a:bodyPr wrap="square" lIns="0" tIns="0" rIns="0" bIns="0" rtlCol="0" anchor="ctr"/>
          <a:lstStyle/>
          <a:p>
            <a:pPr indent="0" marL="0">
              <a:buNone/>
            </a:pPr>
            <a:r>
              <a:rPr lang="en-US" sz="1200" b="1" dirty="0">
                <a:solidFill>
                  <a:srgbClr val="A9BAD3"/>
                </a:solidFill>
                <a:latin typeface="Cambria" pitchFamily="34" charset="0"/>
                <a:ea typeface="Cambria" pitchFamily="34" charset="-122"/>
                <a:cs typeface="Cambria" pitchFamily="34" charset="-120"/>
              </a:rPr>
              <a:t>7</a:t>
            </a:r>
            <a:endParaRPr lang="en-US" sz="1200" dirty="0"/>
          </a:p>
        </p:txBody>
      </p:sp>
      <p:sp>
        <p:nvSpPr>
          <p:cNvPr id="44" name="Text 35"/>
          <p:cNvSpPr txBox="1"/>
          <p:nvPr/>
        </p:nvSpPr>
        <p:spPr>
          <a:xfrm>
            <a:off x="10405872" y="2926080"/>
            <a:ext cx="1335024"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Spec clause</a:t>
            </a:r>
            <a:endParaRPr lang="en-US" sz="1600" dirty="0"/>
          </a:p>
        </p:txBody>
      </p:sp>
      <p:sp>
        <p:nvSpPr>
          <p:cNvPr id="45" name="Text 36"/>
          <p:cNvSpPr txBox="1"/>
          <p:nvPr/>
        </p:nvSpPr>
        <p:spPr>
          <a:xfrm>
            <a:off x="10424160" y="3429000"/>
            <a:ext cx="1298448" cy="1143000"/>
          </a:xfrm>
          <a:prstGeom prst="rect">
            <a:avLst/>
          </a:prstGeom>
          <a:noFill/>
          <a:ln/>
        </p:spPr>
        <p:txBody>
          <a:bodyPr wrap="square" lIns="0" tIns="0" rIns="0" bIns="0" rtlCol="0" anchor="t"/>
          <a:lstStyle/>
          <a:p>
            <a:pPr algn="ctr" indent="0" marL="0">
              <a:buNone/>
            </a:pPr>
            <a:r>
              <a:rPr lang="en-US" sz="1200" dirty="0">
                <a:solidFill>
                  <a:srgbClr val="DCE5F2"/>
                </a:solidFill>
                <a:latin typeface="Calibri" pitchFamily="34" charset="0"/>
                <a:ea typeface="Calibri" pitchFamily="34" charset="-122"/>
                <a:cs typeface="Calibri" pitchFamily="34" charset="-120"/>
              </a:rPr>
              <a:t>ready-to-paste, sourced, Word export</a:t>
            </a:r>
            <a:endParaRPr lang="en-US" sz="1200" dirty="0"/>
          </a:p>
        </p:txBody>
      </p:sp>
      <p:sp>
        <p:nvSpPr>
          <p:cNvPr id="46" name="Shape 37"/>
          <p:cNvSpPr/>
          <p:nvPr/>
        </p:nvSpPr>
        <p:spPr>
          <a:xfrm>
            <a:off x="548640" y="5074920"/>
            <a:ext cx="11064240" cy="960120"/>
          </a:xfrm>
          <a:prstGeom prst="roundRect">
            <a:avLst>
              <a:gd name="adj" fmla="val 7619"/>
            </a:avLst>
          </a:prstGeom>
          <a:solidFill>
            <a:srgbClr val="FFF1E3"/>
          </a:solidFill>
          <a:ln w="9525">
            <a:solidFill>
              <a:srgbClr val="F4C99A"/>
            </a:solidFill>
            <a:prstDash val="solid"/>
          </a:ln>
        </p:spPr>
      </p:sp>
      <p:pic>
        <p:nvPicPr>
          <p:cNvPr id="47" name="Image 7" descr="preencoded.png">    </p:cNvPr>
          <p:cNvPicPr>
            <a:picLocks noChangeAspect="1"/>
          </p:cNvPicPr>
          <p:nvPr/>
        </p:nvPicPr>
        <p:blipFill>
          <a:blip r:embed="rId8"/>
          <a:stretch>
            <a:fillRect/>
          </a:stretch>
        </p:blipFill>
        <p:spPr>
          <a:xfrm>
            <a:off x="777240" y="5303520"/>
            <a:ext cx="502920" cy="502920"/>
          </a:xfrm>
          <a:prstGeom prst="rect">
            <a:avLst/>
          </a:prstGeom>
        </p:spPr>
      </p:pic>
      <p:sp>
        <p:nvSpPr>
          <p:cNvPr id="48" name="Text 38"/>
          <p:cNvSpPr txBox="1"/>
          <p:nvPr/>
        </p:nvSpPr>
        <p:spPr>
          <a:xfrm>
            <a:off x="1463040" y="5120640"/>
            <a:ext cx="9966960" cy="868680"/>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Works where officers already are: </a:t>
            </a:r>
            <a:pPr indent="0" marL="0">
              <a:buNone/>
            </a:pPr>
            <a:r>
              <a:rPr lang="en-US" sz="1500" dirty="0">
                <a:solidFill>
                  <a:srgbClr val="1F2937"/>
                </a:solidFill>
                <a:latin typeface="Calibri" pitchFamily="34" charset="0"/>
                <a:ea typeface="Calibri" pitchFamily="34" charset="-122"/>
                <a:cs typeface="Calibri" pitchFamily="34" charset="-120"/>
              </a:rPr>
              <a:t>the same engine powers the web portal, a browser extension on GeM / CPPP pages, a REST API and an MCP server for AI assistants.</a:t>
            </a:r>
            <a:endParaRPr lang="en-US" sz="1500" dirty="0"/>
          </a:p>
        </p:txBody>
      </p:sp>
      <p:sp>
        <p:nvSpPr>
          <p:cNvPr id="49" name="Text 3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748"/>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knowledge base is the standards themselves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C9D6EA"/>
                </a:solidFill>
                <a:latin typeface="Calibri" pitchFamily="34" charset="0"/>
                <a:ea typeface="Calibri" pitchFamily="34" charset="-122"/>
                <a:cs typeface="Calibri" pitchFamily="34" charset="-120"/>
              </a:rPr>
              <a:t>Six layers, each from an authoritative public source — not a hand-typed list</a:t>
            </a:r>
            <a:endParaRPr lang="en-US" sz="1600" dirty="0"/>
          </a:p>
        </p:txBody>
      </p:sp>
      <p:sp>
        <p:nvSpPr>
          <p:cNvPr id="4" name="Text 2"/>
          <p:cNvSpPr txBox="1"/>
          <p:nvPr/>
        </p:nvSpPr>
        <p:spPr>
          <a:xfrm>
            <a:off x="548640" y="1783080"/>
            <a:ext cx="3657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29,875</a:t>
            </a:r>
            <a:endParaRPr lang="en-US" sz="6000" dirty="0"/>
          </a:p>
        </p:txBody>
      </p:sp>
      <p:sp>
        <p:nvSpPr>
          <p:cNvPr id="5" name="Text 3"/>
          <p:cNvSpPr txBox="1"/>
          <p:nvPr/>
        </p:nvSpPr>
        <p:spPr>
          <a:xfrm>
            <a:off x="548640" y="2788920"/>
            <a:ext cx="3383280" cy="1005840"/>
          </a:xfrm>
          <a:prstGeom prst="rect">
            <a:avLst/>
          </a:prstGeom>
          <a:noFill/>
          <a:ln/>
        </p:spPr>
        <p:txBody>
          <a:bodyPr wrap="square" lIns="0" tIns="0" rIns="0" bIns="0" rtlCol="0" anchor="ctr"/>
          <a:lstStyle/>
          <a:p>
            <a:pPr indent="0" marL="0">
              <a:buNone/>
            </a:pPr>
            <a:r>
              <a:rPr lang="en-US" sz="1400" dirty="0">
                <a:solidFill>
                  <a:srgbClr val="C9D6EA"/>
                </a:solidFill>
                <a:latin typeface="Calibri" pitchFamily="34" charset="0"/>
                <a:ea typeface="Calibri" pitchFamily="34" charset="-122"/>
                <a:cs typeface="Calibri" pitchFamily="34" charset="-120"/>
              </a:rPr>
              <a:t>Indian Standards across all BIS divisions — the largest public SIH26108 graph covers one division family.</a:t>
            </a:r>
            <a:endParaRPr lang="en-US" sz="1400" dirty="0"/>
          </a:p>
        </p:txBody>
      </p:sp>
      <p:sp>
        <p:nvSpPr>
          <p:cNvPr id="6" name="Text 4"/>
          <p:cNvSpPr txBox="1"/>
          <p:nvPr/>
        </p:nvSpPr>
        <p:spPr>
          <a:xfrm>
            <a:off x="548640" y="3977640"/>
            <a:ext cx="3657600" cy="731520"/>
          </a:xfrm>
          <a:prstGeom prst="rect">
            <a:avLst/>
          </a:prstGeom>
          <a:noFill/>
          <a:ln/>
        </p:spPr>
        <p:txBody>
          <a:bodyPr wrap="square" lIns="0" tIns="0" rIns="0" bIns="0" rtlCol="0" anchor="ctr"/>
          <a:lstStyle/>
          <a:p>
            <a:pPr indent="0" marL="0">
              <a:buNone/>
            </a:pPr>
            <a:r>
              <a:rPr lang="en-US" sz="4000" b="1" dirty="0">
                <a:solidFill>
                  <a:srgbClr val="F28C28"/>
                </a:solidFill>
                <a:latin typeface="Cambria" pitchFamily="34" charset="0"/>
                <a:ea typeface="Cambria" pitchFamily="34" charset="-122"/>
                <a:cs typeface="Cambria" pitchFamily="34" charset="-120"/>
              </a:rPr>
              <a:t>80,834</a:t>
            </a:r>
            <a:endParaRPr lang="en-US" sz="4000" dirty="0"/>
          </a:p>
        </p:txBody>
      </p:sp>
      <p:sp>
        <p:nvSpPr>
          <p:cNvPr id="7" name="Text 5"/>
          <p:cNvSpPr txBox="1"/>
          <p:nvPr/>
        </p:nvSpPr>
        <p:spPr>
          <a:xfrm>
            <a:off x="548640" y="4663440"/>
            <a:ext cx="3383280" cy="1097280"/>
          </a:xfrm>
          <a:prstGeom prst="rect">
            <a:avLst/>
          </a:prstGeom>
          <a:noFill/>
          <a:ln/>
        </p:spPr>
        <p:txBody>
          <a:bodyPr wrap="square" lIns="0" tIns="0" rIns="0" bIns="0" rtlCol="0" anchor="ctr"/>
          <a:lstStyle/>
          <a:p>
            <a:pPr indent="0" marL="0">
              <a:buNone/>
            </a:pPr>
            <a:r>
              <a:rPr lang="en-US" sz="1300" dirty="0">
                <a:solidFill>
                  <a:srgbClr val="C9D6EA"/>
                </a:solidFill>
                <a:latin typeface="Calibri" pitchFamily="34" charset="0"/>
                <a:ea typeface="Calibri" pitchFamily="34" charset="-122"/>
                <a:cs typeface="Calibri" pitchFamily="34" charset="-120"/>
              </a:rPr>
              <a:t>typed links (references, 19,622 test methods, terminology, sampling…) — each with the clause and sentence it came from</a:t>
            </a:r>
            <a:endParaRPr lang="en-US" sz="1300" dirty="0"/>
          </a:p>
        </p:txBody>
      </p:sp>
      <p:sp>
        <p:nvSpPr>
          <p:cNvPr id="8" name="Shape 6"/>
          <p:cNvSpPr/>
          <p:nvPr/>
        </p:nvSpPr>
        <p:spPr>
          <a:xfrm>
            <a:off x="4343400" y="1783080"/>
            <a:ext cx="3566160" cy="1298448"/>
          </a:xfrm>
          <a:prstGeom prst="roundRect">
            <a:avLst>
              <a:gd name="adj" fmla="val 5634"/>
            </a:avLst>
          </a:prstGeom>
          <a:solidFill>
            <a:srgbClr val="173A66"/>
          </a:solidFill>
          <a:ln w="9525">
            <a:solidFill>
              <a:srgbClr val="2A4E7E"/>
            </a:solidFill>
            <a:prstDash val="solid"/>
          </a:ln>
        </p:spPr>
      </p:sp>
      <p:sp>
        <p:nvSpPr>
          <p:cNvPr id="9" name="Shape 7"/>
          <p:cNvSpPr/>
          <p:nvPr/>
        </p:nvSpPr>
        <p:spPr>
          <a:xfrm>
            <a:off x="4526280" y="1984248"/>
            <a:ext cx="512064" cy="512064"/>
          </a:xfrm>
          <a:prstGeom prst="ellipse">
            <a:avLst/>
          </a:prstGeom>
          <a:solidFill>
            <a:srgbClr val="F28C28"/>
          </a:solidFill>
          <a:ln w="12700">
            <a:solidFill>
              <a:srgbClr val="F28C28"/>
            </a:solidFill>
            <a:prstDash val="solid"/>
          </a:ln>
        </p:spPr>
      </p:sp>
      <p:pic>
        <p:nvPicPr>
          <p:cNvPr id="10" name="Image 0" descr="preencoded.png">    </p:cNvPr>
          <p:cNvPicPr>
            <a:picLocks noChangeAspect="1"/>
          </p:cNvPicPr>
          <p:nvPr/>
        </p:nvPicPr>
        <p:blipFill>
          <a:blip r:embed="rId1"/>
          <a:stretch>
            <a:fillRect/>
          </a:stretch>
        </p:blipFill>
        <p:spPr>
          <a:xfrm>
            <a:off x="4649175" y="2107143"/>
            <a:ext cx="266273" cy="266273"/>
          </a:xfrm>
          <a:prstGeom prst="rect">
            <a:avLst/>
          </a:prstGeom>
        </p:spPr>
      </p:pic>
      <p:sp>
        <p:nvSpPr>
          <p:cNvPr id="11" name="Text 8"/>
          <p:cNvSpPr txBox="1"/>
          <p:nvPr/>
        </p:nvSpPr>
        <p:spPr>
          <a:xfrm>
            <a:off x="5212080" y="189280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19,492</a:t>
            </a:r>
            <a:endParaRPr lang="en-US" sz="2200" dirty="0"/>
          </a:p>
        </p:txBody>
      </p:sp>
      <p:sp>
        <p:nvSpPr>
          <p:cNvPr id="12" name="Text 9"/>
          <p:cNvSpPr txBox="1"/>
          <p:nvPr/>
        </p:nvSpPr>
        <p:spPr>
          <a:xfrm>
            <a:off x="5212080" y="231343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Full texts parsed</a:t>
            </a:r>
            <a:endParaRPr lang="en-US" sz="1250" dirty="0"/>
          </a:p>
        </p:txBody>
      </p:sp>
      <p:sp>
        <p:nvSpPr>
          <p:cNvPr id="13" name="Text 10"/>
          <p:cNvSpPr txBox="1"/>
          <p:nvPr/>
        </p:nvSpPr>
        <p:spPr>
          <a:xfrm>
            <a:off x="4526280" y="260604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Internet Archive (Public.Resource.Org, RTI) — scope, references, tests</a:t>
            </a:r>
            <a:endParaRPr lang="en-US" sz="1050" dirty="0"/>
          </a:p>
        </p:txBody>
      </p:sp>
      <p:sp>
        <p:nvSpPr>
          <p:cNvPr id="14" name="Shape 11"/>
          <p:cNvSpPr/>
          <p:nvPr/>
        </p:nvSpPr>
        <p:spPr>
          <a:xfrm>
            <a:off x="8092440" y="1783080"/>
            <a:ext cx="3566160" cy="1298448"/>
          </a:xfrm>
          <a:prstGeom prst="roundRect">
            <a:avLst>
              <a:gd name="adj" fmla="val 5634"/>
            </a:avLst>
          </a:prstGeom>
          <a:solidFill>
            <a:srgbClr val="173A66"/>
          </a:solidFill>
          <a:ln w="9525">
            <a:solidFill>
              <a:srgbClr val="2A4E7E"/>
            </a:solidFill>
            <a:prstDash val="solid"/>
          </a:ln>
        </p:spPr>
      </p:sp>
      <p:sp>
        <p:nvSpPr>
          <p:cNvPr id="15" name="Shape 12"/>
          <p:cNvSpPr/>
          <p:nvPr/>
        </p:nvSpPr>
        <p:spPr>
          <a:xfrm>
            <a:off x="8275320" y="1984248"/>
            <a:ext cx="512064" cy="512064"/>
          </a:xfrm>
          <a:prstGeom prst="ellipse">
            <a:avLst/>
          </a:prstGeom>
          <a:solidFill>
            <a:srgbClr val="F28C28"/>
          </a:solidFill>
          <a:ln w="12700">
            <a:solidFill>
              <a:srgbClr val="F28C28"/>
            </a:solidFill>
            <a:prstDash val="solid"/>
          </a:ln>
        </p:spPr>
      </p:sp>
      <p:pic>
        <p:nvPicPr>
          <p:cNvPr id="16" name="Image 1" descr="preencoded.png">    </p:cNvPr>
          <p:cNvPicPr>
            <a:picLocks noChangeAspect="1"/>
          </p:cNvPicPr>
          <p:nvPr/>
        </p:nvPicPr>
        <p:blipFill>
          <a:blip r:embed="rId2"/>
          <a:stretch>
            <a:fillRect/>
          </a:stretch>
        </p:blipFill>
        <p:spPr>
          <a:xfrm>
            <a:off x="8398215" y="2107143"/>
            <a:ext cx="266273" cy="266273"/>
          </a:xfrm>
          <a:prstGeom prst="rect">
            <a:avLst/>
          </a:prstGeom>
        </p:spPr>
      </p:pic>
      <p:sp>
        <p:nvSpPr>
          <p:cNvPr id="17" name="Text 13"/>
          <p:cNvSpPr txBox="1"/>
          <p:nvPr/>
        </p:nvSpPr>
        <p:spPr>
          <a:xfrm>
            <a:off x="8961120" y="189280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29,710</a:t>
            </a:r>
            <a:endParaRPr lang="en-US" sz="2200" dirty="0"/>
          </a:p>
        </p:txBody>
      </p:sp>
      <p:sp>
        <p:nvSpPr>
          <p:cNvPr id="18" name="Text 14"/>
          <p:cNvSpPr txBox="1"/>
          <p:nvPr/>
        </p:nvSpPr>
        <p:spPr>
          <a:xfrm>
            <a:off x="8961120" y="231343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Status of every standard</a:t>
            </a:r>
            <a:endParaRPr lang="en-US" sz="1250" dirty="0"/>
          </a:p>
        </p:txBody>
      </p:sp>
      <p:sp>
        <p:nvSpPr>
          <p:cNvPr id="19" name="Text 15"/>
          <p:cNvSpPr txBox="1"/>
          <p:nvPr/>
        </p:nvSpPr>
        <p:spPr>
          <a:xfrm>
            <a:off x="8275320" y="260604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BIS Know-Your-Standards: 21,291 active · 6,072 withdrawn · document type</a:t>
            </a:r>
            <a:endParaRPr lang="en-US" sz="1050" dirty="0"/>
          </a:p>
        </p:txBody>
      </p:sp>
      <p:sp>
        <p:nvSpPr>
          <p:cNvPr id="20" name="Shape 16"/>
          <p:cNvSpPr/>
          <p:nvPr/>
        </p:nvSpPr>
        <p:spPr>
          <a:xfrm>
            <a:off x="4343400" y="3246120"/>
            <a:ext cx="3566160" cy="1298448"/>
          </a:xfrm>
          <a:prstGeom prst="roundRect">
            <a:avLst>
              <a:gd name="adj" fmla="val 5634"/>
            </a:avLst>
          </a:prstGeom>
          <a:solidFill>
            <a:srgbClr val="173A66"/>
          </a:solidFill>
          <a:ln w="9525">
            <a:solidFill>
              <a:srgbClr val="2A4E7E"/>
            </a:solidFill>
            <a:prstDash val="solid"/>
          </a:ln>
        </p:spPr>
      </p:sp>
      <p:sp>
        <p:nvSpPr>
          <p:cNvPr id="21" name="Shape 17"/>
          <p:cNvSpPr/>
          <p:nvPr/>
        </p:nvSpPr>
        <p:spPr>
          <a:xfrm>
            <a:off x="4526280" y="3447288"/>
            <a:ext cx="512064" cy="512064"/>
          </a:xfrm>
          <a:prstGeom prst="ellipse">
            <a:avLst/>
          </a:prstGeom>
          <a:solidFill>
            <a:srgbClr val="F28C28"/>
          </a:solidFill>
          <a:ln w="12700">
            <a:solidFill>
              <a:srgbClr val="F28C28"/>
            </a:solidFill>
            <a:prstDash val="solid"/>
          </a:ln>
        </p:spPr>
      </p:sp>
      <p:pic>
        <p:nvPicPr>
          <p:cNvPr id="22" name="Image 2" descr="preencoded.png">    </p:cNvPr>
          <p:cNvPicPr>
            <a:picLocks noChangeAspect="1"/>
          </p:cNvPicPr>
          <p:nvPr/>
        </p:nvPicPr>
        <p:blipFill>
          <a:blip r:embed="rId3"/>
          <a:stretch>
            <a:fillRect/>
          </a:stretch>
        </p:blipFill>
        <p:spPr>
          <a:xfrm>
            <a:off x="4649175" y="3570183"/>
            <a:ext cx="266273" cy="266273"/>
          </a:xfrm>
          <a:prstGeom prst="rect">
            <a:avLst/>
          </a:prstGeom>
        </p:spPr>
      </p:pic>
      <p:sp>
        <p:nvSpPr>
          <p:cNvPr id="23" name="Text 18"/>
          <p:cNvSpPr txBox="1"/>
          <p:nvPr/>
        </p:nvSpPr>
        <p:spPr>
          <a:xfrm>
            <a:off x="5212080" y="335584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29,607</a:t>
            </a:r>
            <a:endParaRPr lang="en-US" sz="2200" dirty="0"/>
          </a:p>
        </p:txBody>
      </p:sp>
      <p:sp>
        <p:nvSpPr>
          <p:cNvPr id="24" name="Text 19"/>
          <p:cNvSpPr txBox="1"/>
          <p:nvPr/>
        </p:nvSpPr>
        <p:spPr>
          <a:xfrm>
            <a:off x="5212080" y="377647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Editions &amp; amendments</a:t>
            </a:r>
            <a:endParaRPr lang="en-US" sz="1250" dirty="0"/>
          </a:p>
        </p:txBody>
      </p:sp>
      <p:sp>
        <p:nvSpPr>
          <p:cNvPr id="25" name="Text 20"/>
          <p:cNvSpPr txBox="1"/>
          <p:nvPr/>
        </p:nvSpPr>
        <p:spPr>
          <a:xfrm>
            <a:off x="4526280" y="406908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BIS e-Sale portal editions · amendment lists for 1,138 key standards</a:t>
            </a:r>
            <a:endParaRPr lang="en-US" sz="1050" dirty="0"/>
          </a:p>
        </p:txBody>
      </p:sp>
      <p:sp>
        <p:nvSpPr>
          <p:cNvPr id="26" name="Shape 21"/>
          <p:cNvSpPr/>
          <p:nvPr/>
        </p:nvSpPr>
        <p:spPr>
          <a:xfrm>
            <a:off x="8092440" y="3246120"/>
            <a:ext cx="3566160" cy="1298448"/>
          </a:xfrm>
          <a:prstGeom prst="roundRect">
            <a:avLst>
              <a:gd name="adj" fmla="val 5634"/>
            </a:avLst>
          </a:prstGeom>
          <a:solidFill>
            <a:srgbClr val="173A66"/>
          </a:solidFill>
          <a:ln w="9525">
            <a:solidFill>
              <a:srgbClr val="2A4E7E"/>
            </a:solidFill>
            <a:prstDash val="solid"/>
          </a:ln>
        </p:spPr>
      </p:sp>
      <p:sp>
        <p:nvSpPr>
          <p:cNvPr id="27" name="Shape 22"/>
          <p:cNvSpPr/>
          <p:nvPr/>
        </p:nvSpPr>
        <p:spPr>
          <a:xfrm>
            <a:off x="8275320" y="3447288"/>
            <a:ext cx="512064" cy="512064"/>
          </a:xfrm>
          <a:prstGeom prst="ellipse">
            <a:avLst/>
          </a:prstGeom>
          <a:solidFill>
            <a:srgbClr val="F28C28"/>
          </a:solidFill>
          <a:ln w="12700">
            <a:solidFill>
              <a:srgbClr val="F28C28"/>
            </a:solidFill>
            <a:prstDash val="solid"/>
          </a:ln>
        </p:spPr>
      </p:sp>
      <p:pic>
        <p:nvPicPr>
          <p:cNvPr id="28" name="Image 3" descr="preencoded.png">    </p:cNvPr>
          <p:cNvPicPr>
            <a:picLocks noChangeAspect="1"/>
          </p:cNvPicPr>
          <p:nvPr/>
        </p:nvPicPr>
        <p:blipFill>
          <a:blip r:embed="rId4"/>
          <a:stretch>
            <a:fillRect/>
          </a:stretch>
        </p:blipFill>
        <p:spPr>
          <a:xfrm>
            <a:off x="8398215" y="3570183"/>
            <a:ext cx="266273" cy="266273"/>
          </a:xfrm>
          <a:prstGeom prst="rect">
            <a:avLst/>
          </a:prstGeom>
        </p:spPr>
      </p:pic>
      <p:sp>
        <p:nvSpPr>
          <p:cNvPr id="29" name="Text 23"/>
          <p:cNvSpPr txBox="1"/>
          <p:nvPr/>
        </p:nvSpPr>
        <p:spPr>
          <a:xfrm>
            <a:off x="8961120" y="335584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828</a:t>
            </a:r>
            <a:endParaRPr lang="en-US" sz="2200" dirty="0"/>
          </a:p>
        </p:txBody>
      </p:sp>
      <p:sp>
        <p:nvSpPr>
          <p:cNvPr id="30" name="Text 24"/>
          <p:cNvSpPr txBox="1"/>
          <p:nvPr/>
        </p:nvSpPr>
        <p:spPr>
          <a:xfrm>
            <a:off x="8961120" y="377647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Compulsory certification</a:t>
            </a:r>
            <a:endParaRPr lang="en-US" sz="1250" dirty="0"/>
          </a:p>
        </p:txBody>
      </p:sp>
      <p:sp>
        <p:nvSpPr>
          <p:cNvPr id="31" name="Text 25"/>
          <p:cNvSpPr txBox="1"/>
          <p:nvPr/>
        </p:nvSpPr>
        <p:spPr>
          <a:xfrm>
            <a:off x="8275320" y="406908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BIS Scheme-I / II / X + hallmarking pages, with the QCO</a:t>
            </a:r>
            <a:endParaRPr lang="en-US" sz="1050" dirty="0"/>
          </a:p>
        </p:txBody>
      </p:sp>
      <p:sp>
        <p:nvSpPr>
          <p:cNvPr id="32" name="Shape 26"/>
          <p:cNvSpPr/>
          <p:nvPr/>
        </p:nvSpPr>
        <p:spPr>
          <a:xfrm>
            <a:off x="4343400" y="4709160"/>
            <a:ext cx="3566160" cy="1298448"/>
          </a:xfrm>
          <a:prstGeom prst="roundRect">
            <a:avLst>
              <a:gd name="adj" fmla="val 5634"/>
            </a:avLst>
          </a:prstGeom>
          <a:solidFill>
            <a:srgbClr val="173A66"/>
          </a:solidFill>
          <a:ln w="9525">
            <a:solidFill>
              <a:srgbClr val="2A4E7E"/>
            </a:solidFill>
            <a:prstDash val="solid"/>
          </a:ln>
        </p:spPr>
      </p:sp>
      <p:sp>
        <p:nvSpPr>
          <p:cNvPr id="33" name="Shape 27"/>
          <p:cNvSpPr/>
          <p:nvPr/>
        </p:nvSpPr>
        <p:spPr>
          <a:xfrm>
            <a:off x="4526280" y="4910328"/>
            <a:ext cx="512064" cy="512064"/>
          </a:xfrm>
          <a:prstGeom prst="ellipse">
            <a:avLst/>
          </a:prstGeom>
          <a:solidFill>
            <a:srgbClr val="F28C28"/>
          </a:solidFill>
          <a:ln w="12700">
            <a:solidFill>
              <a:srgbClr val="F28C28"/>
            </a:solidFill>
            <a:prstDash val="solid"/>
          </a:ln>
        </p:spPr>
      </p:sp>
      <p:pic>
        <p:nvPicPr>
          <p:cNvPr id="34" name="Image 4" descr="preencoded.png">    </p:cNvPr>
          <p:cNvPicPr>
            <a:picLocks noChangeAspect="1"/>
          </p:cNvPicPr>
          <p:nvPr/>
        </p:nvPicPr>
        <p:blipFill>
          <a:blip r:embed="rId5"/>
          <a:stretch>
            <a:fillRect/>
          </a:stretch>
        </p:blipFill>
        <p:spPr>
          <a:xfrm>
            <a:off x="4649175" y="5033223"/>
            <a:ext cx="266273" cy="266273"/>
          </a:xfrm>
          <a:prstGeom prst="rect">
            <a:avLst/>
          </a:prstGeom>
        </p:spPr>
      </p:pic>
      <p:sp>
        <p:nvSpPr>
          <p:cNvPr id="35" name="Text 28"/>
          <p:cNvSpPr txBox="1"/>
          <p:nvPr/>
        </p:nvSpPr>
        <p:spPr>
          <a:xfrm>
            <a:off x="5212080" y="481888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821</a:t>
            </a:r>
            <a:endParaRPr lang="en-US" sz="2200" dirty="0"/>
          </a:p>
        </p:txBody>
      </p:sp>
      <p:sp>
        <p:nvSpPr>
          <p:cNvPr id="36" name="Text 29"/>
          <p:cNvSpPr txBox="1"/>
          <p:nvPr/>
        </p:nvSpPr>
        <p:spPr>
          <a:xfrm>
            <a:off x="5212080" y="523951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GeM procurement layer</a:t>
            </a:r>
            <a:endParaRPr lang="en-US" sz="1250" dirty="0"/>
          </a:p>
        </p:txBody>
      </p:sp>
      <p:sp>
        <p:nvSpPr>
          <p:cNvPr id="37" name="Text 30"/>
          <p:cNvSpPr txBox="1"/>
          <p:nvPr/>
        </p:nvSpPr>
        <p:spPr>
          <a:xfrm>
            <a:off x="4526280" y="553212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GeM categories that name their IS (3,794 live bids)</a:t>
            </a:r>
            <a:endParaRPr lang="en-US" sz="1050" dirty="0"/>
          </a:p>
        </p:txBody>
      </p:sp>
      <p:sp>
        <p:nvSpPr>
          <p:cNvPr id="38" name="Shape 31"/>
          <p:cNvSpPr/>
          <p:nvPr/>
        </p:nvSpPr>
        <p:spPr>
          <a:xfrm>
            <a:off x="8092440" y="4709160"/>
            <a:ext cx="3566160" cy="1298448"/>
          </a:xfrm>
          <a:prstGeom prst="roundRect">
            <a:avLst>
              <a:gd name="adj" fmla="val 5634"/>
            </a:avLst>
          </a:prstGeom>
          <a:solidFill>
            <a:srgbClr val="173A66"/>
          </a:solidFill>
          <a:ln w="9525">
            <a:solidFill>
              <a:srgbClr val="2A4E7E"/>
            </a:solidFill>
            <a:prstDash val="solid"/>
          </a:ln>
        </p:spPr>
      </p:sp>
      <p:sp>
        <p:nvSpPr>
          <p:cNvPr id="39" name="Shape 32"/>
          <p:cNvSpPr/>
          <p:nvPr/>
        </p:nvSpPr>
        <p:spPr>
          <a:xfrm>
            <a:off x="8275320" y="4910328"/>
            <a:ext cx="512064" cy="512064"/>
          </a:xfrm>
          <a:prstGeom prst="ellipse">
            <a:avLst/>
          </a:prstGeom>
          <a:solidFill>
            <a:srgbClr val="F28C28"/>
          </a:solidFill>
          <a:ln w="12700">
            <a:solidFill>
              <a:srgbClr val="F28C28"/>
            </a:solidFill>
            <a:prstDash val="solid"/>
          </a:ln>
        </p:spPr>
      </p:sp>
      <p:pic>
        <p:nvPicPr>
          <p:cNvPr id="40" name="Image 5" descr="preencoded.png">    </p:cNvPr>
          <p:cNvPicPr>
            <a:picLocks noChangeAspect="1"/>
          </p:cNvPicPr>
          <p:nvPr/>
        </p:nvPicPr>
        <p:blipFill>
          <a:blip r:embed="rId6"/>
          <a:stretch>
            <a:fillRect/>
          </a:stretch>
        </p:blipFill>
        <p:spPr>
          <a:xfrm>
            <a:off x="8398215" y="5033223"/>
            <a:ext cx="266273" cy="266273"/>
          </a:xfrm>
          <a:prstGeom prst="rect">
            <a:avLst/>
          </a:prstGeom>
        </p:spPr>
      </p:pic>
      <p:sp>
        <p:nvSpPr>
          <p:cNvPr id="41" name="Text 33"/>
          <p:cNvSpPr txBox="1"/>
          <p:nvPr/>
        </p:nvSpPr>
        <p:spPr>
          <a:xfrm>
            <a:off x="8961120" y="4818888"/>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482</a:t>
            </a:r>
            <a:endParaRPr lang="en-US" sz="2200" dirty="0"/>
          </a:p>
        </p:txBody>
      </p:sp>
      <p:sp>
        <p:nvSpPr>
          <p:cNvPr id="42" name="Text 34"/>
          <p:cNvSpPr txBox="1"/>
          <p:nvPr/>
        </p:nvSpPr>
        <p:spPr>
          <a:xfrm>
            <a:off x="8961120" y="5239512"/>
            <a:ext cx="2606040" cy="274320"/>
          </a:xfrm>
          <a:prstGeom prst="rect">
            <a:avLst/>
          </a:prstGeom>
          <a:noFill/>
          <a:ln/>
        </p:spPr>
        <p:txBody>
          <a:bodyPr wrap="square" lIns="0" tIns="0" rIns="0" bIns="0" rtlCol="0" anchor="ctr"/>
          <a:lstStyle/>
          <a:p>
            <a:pPr indent="0" marL="0">
              <a:buNone/>
            </a:pPr>
            <a:r>
              <a:rPr lang="en-US" sz="1250" b="1" dirty="0">
                <a:solidFill>
                  <a:srgbClr val="E6ECF5"/>
                </a:solidFill>
                <a:latin typeface="Calibri" pitchFamily="34" charset="0"/>
                <a:ea typeface="Calibri" pitchFamily="34" charset="-122"/>
                <a:cs typeface="Calibri" pitchFamily="34" charset="-120"/>
              </a:rPr>
              <a:t>Testing labs</a:t>
            </a:r>
            <a:endParaRPr lang="en-US" sz="1250" dirty="0"/>
          </a:p>
        </p:txBody>
      </p:sp>
      <p:sp>
        <p:nvSpPr>
          <p:cNvPr id="43" name="Text 35"/>
          <p:cNvSpPr txBox="1"/>
          <p:nvPr/>
        </p:nvSpPr>
        <p:spPr>
          <a:xfrm>
            <a:off x="8275320" y="5532120"/>
            <a:ext cx="3246120" cy="438912"/>
          </a:xfrm>
          <a:prstGeom prst="rect">
            <a:avLst/>
          </a:prstGeom>
          <a:noFill/>
          <a:ln/>
        </p:spPr>
        <p:txBody>
          <a:bodyPr wrap="square" lIns="0" tIns="0" rIns="0" bIns="0" rtlCol="0" anchor="ctr"/>
          <a:lstStyle/>
          <a:p>
            <a:pPr indent="0" marL="0">
              <a:buNone/>
            </a:pPr>
            <a:r>
              <a:rPr lang="en-US" sz="1050" dirty="0">
                <a:solidFill>
                  <a:srgbClr val="A9BAD3"/>
                </a:solidFill>
                <a:latin typeface="Calibri" pitchFamily="34" charset="0"/>
                <a:ea typeface="Calibri" pitchFamily="34" charset="-122"/>
                <a:cs typeface="Calibri" pitchFamily="34" charset="-120"/>
              </a:rPr>
              <a:t>BIS LIMS: labs for 823 standards, charges &amp; clauses</a:t>
            </a:r>
            <a:endParaRPr lang="en-US" sz="1050" dirty="0"/>
          </a:p>
        </p:txBody>
      </p:sp>
      <p:sp>
        <p:nvSpPr>
          <p:cNvPr id="44" name="Text 3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FA3C0"/>
                </a:solidFill>
                <a:latin typeface="Calibri" pitchFamily="34" charset="0"/>
                <a:ea typeface="Calibri" pitchFamily="34" charset="-122"/>
                <a:cs typeface="Calibri" pitchFamily="34" charset="-120"/>
              </a:rPr>
              <a:t>SpecSure · SIH26108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How it decides — evidence first, AI where it helps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Deterministic pipeline; every output line carries its source clause and the date it was checked</a:t>
            </a:r>
            <a:endParaRPr lang="en-US" sz="1600" dirty="0"/>
          </a:p>
        </p:txBody>
      </p:sp>
      <p:sp>
        <p:nvSpPr>
          <p:cNvPr id="4" name="Shape 2"/>
          <p:cNvSpPr/>
          <p:nvPr/>
        </p:nvSpPr>
        <p:spPr>
          <a:xfrm>
            <a:off x="548640" y="1783080"/>
            <a:ext cx="1481328" cy="2286000"/>
          </a:xfrm>
          <a:prstGeom prst="roundRect">
            <a:avLst>
              <a:gd name="adj" fmla="val 4938"/>
            </a:avLst>
          </a:prstGeom>
          <a:solidFill>
            <a:srgbClr val="E8EEF7"/>
          </a:solidFill>
          <a:ln w="9525">
            <a:solidFill>
              <a:srgbClr val="D5DEEA"/>
            </a:solidFill>
            <a:prstDash val="solid"/>
          </a:ln>
        </p:spPr>
      </p:sp>
      <p:sp>
        <p:nvSpPr>
          <p:cNvPr id="5" name="Text 3"/>
          <p:cNvSpPr txBox="1"/>
          <p:nvPr/>
        </p:nvSpPr>
        <p:spPr>
          <a:xfrm>
            <a:off x="6400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Input</a:t>
            </a:r>
            <a:endParaRPr lang="en-US" sz="1600" dirty="0"/>
          </a:p>
        </p:txBody>
      </p:sp>
      <p:sp>
        <p:nvSpPr>
          <p:cNvPr id="6" name="Text 4"/>
          <p:cNvSpPr txBox="1"/>
          <p:nvPr/>
        </p:nvSpPr>
        <p:spPr>
          <a:xfrm>
            <a:off x="6583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text · voice · 7 languages · tender PDF (OCR) · GeM bid page</a:t>
            </a:r>
            <a:endParaRPr lang="en-US" sz="1150" dirty="0"/>
          </a:p>
        </p:txBody>
      </p:sp>
      <p:sp>
        <p:nvSpPr>
          <p:cNvPr id="7" name="Shape 5"/>
          <p:cNvSpPr/>
          <p:nvPr/>
        </p:nvSpPr>
        <p:spPr>
          <a:xfrm rot="5400000">
            <a:off x="2043684" y="2807208"/>
            <a:ext cx="91440" cy="237744"/>
          </a:xfrm>
          <a:prstGeom prst="triangle">
            <a:avLst/>
          </a:prstGeom>
          <a:solidFill>
            <a:srgbClr val="F28C28"/>
          </a:solidFill>
          <a:ln w="12700">
            <a:solidFill>
              <a:srgbClr val="F28C28"/>
            </a:solidFill>
            <a:prstDash val="solid"/>
          </a:ln>
        </p:spPr>
      </p:sp>
      <p:sp>
        <p:nvSpPr>
          <p:cNvPr id="8" name="Shape 6"/>
          <p:cNvSpPr/>
          <p:nvPr/>
        </p:nvSpPr>
        <p:spPr>
          <a:xfrm>
            <a:off x="2148840" y="1783080"/>
            <a:ext cx="1481328" cy="2286000"/>
          </a:xfrm>
          <a:prstGeom prst="roundRect">
            <a:avLst>
              <a:gd name="adj" fmla="val 4938"/>
            </a:avLst>
          </a:prstGeom>
          <a:solidFill>
            <a:srgbClr val="E8EEF7"/>
          </a:solidFill>
          <a:ln w="9525">
            <a:solidFill>
              <a:srgbClr val="D5DEEA"/>
            </a:solidFill>
            <a:prstDash val="solid"/>
          </a:ln>
        </p:spPr>
      </p:sp>
      <p:sp>
        <p:nvSpPr>
          <p:cNvPr id="9" name="Text 7"/>
          <p:cNvSpPr txBox="1"/>
          <p:nvPr/>
        </p:nvSpPr>
        <p:spPr>
          <a:xfrm>
            <a:off x="22402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Understand</a:t>
            </a:r>
            <a:endParaRPr lang="en-US" sz="1600" dirty="0"/>
          </a:p>
        </p:txBody>
      </p:sp>
      <p:sp>
        <p:nvSpPr>
          <p:cNvPr id="10" name="Text 8"/>
          <p:cNvSpPr txBox="1"/>
          <p:nvPr/>
        </p:nvSpPr>
        <p:spPr>
          <a:xfrm>
            <a:off x="22585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procurement glossary + loanword transliteration · item extraction from tenders</a:t>
            </a:r>
            <a:endParaRPr lang="en-US" sz="1150" dirty="0"/>
          </a:p>
        </p:txBody>
      </p:sp>
      <p:sp>
        <p:nvSpPr>
          <p:cNvPr id="11" name="Shape 9"/>
          <p:cNvSpPr/>
          <p:nvPr/>
        </p:nvSpPr>
        <p:spPr>
          <a:xfrm rot="5400000">
            <a:off x="3643884" y="2807208"/>
            <a:ext cx="91440" cy="237744"/>
          </a:xfrm>
          <a:prstGeom prst="triangle">
            <a:avLst/>
          </a:prstGeom>
          <a:solidFill>
            <a:srgbClr val="F28C28"/>
          </a:solidFill>
          <a:ln w="12700">
            <a:solidFill>
              <a:srgbClr val="F28C28"/>
            </a:solidFill>
            <a:prstDash val="solid"/>
          </a:ln>
        </p:spPr>
      </p:sp>
      <p:sp>
        <p:nvSpPr>
          <p:cNvPr id="12" name="Shape 10"/>
          <p:cNvSpPr/>
          <p:nvPr/>
        </p:nvSpPr>
        <p:spPr>
          <a:xfrm>
            <a:off x="3749040" y="1783080"/>
            <a:ext cx="1481328" cy="2286000"/>
          </a:xfrm>
          <a:prstGeom prst="roundRect">
            <a:avLst>
              <a:gd name="adj" fmla="val 4938"/>
            </a:avLst>
          </a:prstGeom>
          <a:solidFill>
            <a:srgbClr val="E8EEF7"/>
          </a:solidFill>
          <a:ln w="9525">
            <a:solidFill>
              <a:srgbClr val="D5DEEA"/>
            </a:solidFill>
            <a:prstDash val="solid"/>
          </a:ln>
        </p:spPr>
      </p:sp>
      <p:sp>
        <p:nvSpPr>
          <p:cNvPr id="13" name="Text 11"/>
          <p:cNvSpPr txBox="1"/>
          <p:nvPr/>
        </p:nvSpPr>
        <p:spPr>
          <a:xfrm>
            <a:off x="38404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Retrieve</a:t>
            </a:r>
            <a:endParaRPr lang="en-US" sz="1600" dirty="0"/>
          </a:p>
        </p:txBody>
      </p:sp>
      <p:sp>
        <p:nvSpPr>
          <p:cNvPr id="14" name="Text 12"/>
          <p:cNvSpPr txBox="1"/>
          <p:nvPr/>
        </p:nvSpPr>
        <p:spPr>
          <a:xfrm>
            <a:off x="38587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3-field BM25 (title · scope · product names) + bge-m3 multilingual embeddings, fused (RRF)</a:t>
            </a:r>
            <a:endParaRPr lang="en-US" sz="1150" dirty="0"/>
          </a:p>
        </p:txBody>
      </p:sp>
      <p:sp>
        <p:nvSpPr>
          <p:cNvPr id="15" name="Shape 13"/>
          <p:cNvSpPr/>
          <p:nvPr/>
        </p:nvSpPr>
        <p:spPr>
          <a:xfrm rot="5400000">
            <a:off x="5244084" y="2807208"/>
            <a:ext cx="91440" cy="237744"/>
          </a:xfrm>
          <a:prstGeom prst="triangle">
            <a:avLst/>
          </a:prstGeom>
          <a:solidFill>
            <a:srgbClr val="F28C28"/>
          </a:solidFill>
          <a:ln w="12700">
            <a:solidFill>
              <a:srgbClr val="F28C28"/>
            </a:solidFill>
            <a:prstDash val="solid"/>
          </a:ln>
        </p:spPr>
      </p:sp>
      <p:sp>
        <p:nvSpPr>
          <p:cNvPr id="16" name="Shape 14"/>
          <p:cNvSpPr/>
          <p:nvPr/>
        </p:nvSpPr>
        <p:spPr>
          <a:xfrm>
            <a:off x="5349240" y="1783080"/>
            <a:ext cx="1481328" cy="2286000"/>
          </a:xfrm>
          <a:prstGeom prst="roundRect">
            <a:avLst>
              <a:gd name="adj" fmla="val 4938"/>
            </a:avLst>
          </a:prstGeom>
          <a:solidFill>
            <a:srgbClr val="0F2748"/>
          </a:solidFill>
          <a:ln w="9525">
            <a:solidFill>
              <a:srgbClr val="0F2748"/>
            </a:solidFill>
            <a:prstDash val="solid"/>
          </a:ln>
        </p:spPr>
      </p:sp>
      <p:sp>
        <p:nvSpPr>
          <p:cNvPr id="17" name="Text 15"/>
          <p:cNvSpPr txBox="1"/>
          <p:nvPr/>
        </p:nvSpPr>
        <p:spPr>
          <a:xfrm>
            <a:off x="5440680" y="1920240"/>
            <a:ext cx="12984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Decide</a:t>
            </a:r>
            <a:endParaRPr lang="en-US" sz="1600" dirty="0"/>
          </a:p>
        </p:txBody>
      </p:sp>
      <p:sp>
        <p:nvSpPr>
          <p:cNvPr id="18" name="Text 16"/>
          <p:cNvSpPr txBox="1"/>
          <p:nvPr/>
        </p:nvSpPr>
        <p:spPr>
          <a:xfrm>
            <a:off x="5458968" y="2377440"/>
            <a:ext cx="1261872" cy="1600200"/>
          </a:xfrm>
          <a:prstGeom prst="rect">
            <a:avLst/>
          </a:prstGeom>
          <a:noFill/>
          <a:ln/>
        </p:spPr>
        <p:txBody>
          <a:bodyPr wrap="square" lIns="0" tIns="0" rIns="0" bIns="0" rtlCol="0" anchor="t"/>
          <a:lstStyle/>
          <a:p>
            <a:pPr algn="ctr" indent="0" marL="0">
              <a:buNone/>
            </a:pPr>
            <a:r>
              <a:rPr lang="en-US" sz="1150" dirty="0">
                <a:solidFill>
                  <a:srgbClr val="DCE5F2"/>
                </a:solidFill>
                <a:latin typeface="Calibri" pitchFamily="34" charset="0"/>
                <a:ea typeface="Calibri" pitchFamily="34" charset="-122"/>
                <a:cs typeface="Calibri" pitchFamily="34" charset="-120"/>
              </a:rPr>
              <a:t>confidence from retriever agreement + coverage · abstain · withdrawn / title-only never ‘Recommended’</a:t>
            </a:r>
            <a:endParaRPr lang="en-US" sz="1150" dirty="0"/>
          </a:p>
        </p:txBody>
      </p:sp>
      <p:sp>
        <p:nvSpPr>
          <p:cNvPr id="19" name="Shape 17"/>
          <p:cNvSpPr/>
          <p:nvPr/>
        </p:nvSpPr>
        <p:spPr>
          <a:xfrm rot="5400000">
            <a:off x="6844284" y="2807208"/>
            <a:ext cx="91440" cy="237744"/>
          </a:xfrm>
          <a:prstGeom prst="triangle">
            <a:avLst/>
          </a:prstGeom>
          <a:solidFill>
            <a:srgbClr val="F28C28"/>
          </a:solidFill>
          <a:ln w="12700">
            <a:solidFill>
              <a:srgbClr val="F28C28"/>
            </a:solidFill>
            <a:prstDash val="solid"/>
          </a:ln>
        </p:spPr>
      </p:sp>
      <p:sp>
        <p:nvSpPr>
          <p:cNvPr id="20" name="Shape 18"/>
          <p:cNvSpPr/>
          <p:nvPr/>
        </p:nvSpPr>
        <p:spPr>
          <a:xfrm>
            <a:off x="6949440" y="1783080"/>
            <a:ext cx="1481328" cy="2286000"/>
          </a:xfrm>
          <a:prstGeom prst="roundRect">
            <a:avLst>
              <a:gd name="adj" fmla="val 4938"/>
            </a:avLst>
          </a:prstGeom>
          <a:solidFill>
            <a:srgbClr val="E8EEF7"/>
          </a:solidFill>
          <a:ln w="9525">
            <a:solidFill>
              <a:srgbClr val="D5DEEA"/>
            </a:solidFill>
            <a:prstDash val="solid"/>
          </a:ln>
        </p:spPr>
      </p:sp>
      <p:sp>
        <p:nvSpPr>
          <p:cNvPr id="21" name="Text 19"/>
          <p:cNvSpPr txBox="1"/>
          <p:nvPr/>
        </p:nvSpPr>
        <p:spPr>
          <a:xfrm>
            <a:off x="70408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Expand</a:t>
            </a:r>
            <a:endParaRPr lang="en-US" sz="1600" dirty="0"/>
          </a:p>
        </p:txBody>
      </p:sp>
      <p:sp>
        <p:nvSpPr>
          <p:cNvPr id="22" name="Text 20"/>
          <p:cNvSpPr txBox="1"/>
          <p:nvPr/>
        </p:nvSpPr>
        <p:spPr>
          <a:xfrm>
            <a:off x="70591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knowledge graph: normative refs, test methods, compliance tree (depth 1–4)</a:t>
            </a:r>
            <a:endParaRPr lang="en-US" sz="1150" dirty="0"/>
          </a:p>
        </p:txBody>
      </p:sp>
      <p:sp>
        <p:nvSpPr>
          <p:cNvPr id="23" name="Shape 21"/>
          <p:cNvSpPr/>
          <p:nvPr/>
        </p:nvSpPr>
        <p:spPr>
          <a:xfrm rot="5400000">
            <a:off x="8444484" y="2807208"/>
            <a:ext cx="91440" cy="237744"/>
          </a:xfrm>
          <a:prstGeom prst="triangle">
            <a:avLst/>
          </a:prstGeom>
          <a:solidFill>
            <a:srgbClr val="F28C28"/>
          </a:solidFill>
          <a:ln w="12700">
            <a:solidFill>
              <a:srgbClr val="F28C28"/>
            </a:solidFill>
            <a:prstDash val="solid"/>
          </a:ln>
        </p:spPr>
      </p:sp>
      <p:sp>
        <p:nvSpPr>
          <p:cNvPr id="24" name="Shape 22"/>
          <p:cNvSpPr/>
          <p:nvPr/>
        </p:nvSpPr>
        <p:spPr>
          <a:xfrm>
            <a:off x="8549640" y="1783080"/>
            <a:ext cx="1481328" cy="2286000"/>
          </a:xfrm>
          <a:prstGeom prst="roundRect">
            <a:avLst>
              <a:gd name="adj" fmla="val 4938"/>
            </a:avLst>
          </a:prstGeom>
          <a:solidFill>
            <a:srgbClr val="E8EEF7"/>
          </a:solidFill>
          <a:ln w="9525">
            <a:solidFill>
              <a:srgbClr val="D5DEEA"/>
            </a:solidFill>
            <a:prstDash val="solid"/>
          </a:ln>
        </p:spPr>
      </p:sp>
      <p:sp>
        <p:nvSpPr>
          <p:cNvPr id="25" name="Text 23"/>
          <p:cNvSpPr txBox="1"/>
          <p:nvPr/>
        </p:nvSpPr>
        <p:spPr>
          <a:xfrm>
            <a:off x="86410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Resolve</a:t>
            </a:r>
            <a:endParaRPr lang="en-US" sz="1600" dirty="0"/>
          </a:p>
        </p:txBody>
      </p:sp>
      <p:sp>
        <p:nvSpPr>
          <p:cNvPr id="26" name="Text 24"/>
          <p:cNvSpPr txBox="1"/>
          <p:nvPr/>
        </p:nvSpPr>
        <p:spPr>
          <a:xfrm>
            <a:off x="86593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edition in force · amendments · replacement · QCO · labs &amp; charges</a:t>
            </a:r>
            <a:endParaRPr lang="en-US" sz="1150" dirty="0"/>
          </a:p>
        </p:txBody>
      </p:sp>
      <p:sp>
        <p:nvSpPr>
          <p:cNvPr id="27" name="Shape 25"/>
          <p:cNvSpPr/>
          <p:nvPr/>
        </p:nvSpPr>
        <p:spPr>
          <a:xfrm rot="5400000">
            <a:off x="10044684" y="2807208"/>
            <a:ext cx="91440" cy="237744"/>
          </a:xfrm>
          <a:prstGeom prst="triangle">
            <a:avLst/>
          </a:prstGeom>
          <a:solidFill>
            <a:srgbClr val="F28C28"/>
          </a:solidFill>
          <a:ln w="12700">
            <a:solidFill>
              <a:srgbClr val="F28C28"/>
            </a:solidFill>
            <a:prstDash val="solid"/>
          </a:ln>
        </p:spPr>
      </p:sp>
      <p:sp>
        <p:nvSpPr>
          <p:cNvPr id="28" name="Shape 26"/>
          <p:cNvSpPr/>
          <p:nvPr/>
        </p:nvSpPr>
        <p:spPr>
          <a:xfrm>
            <a:off x="10149840" y="1783080"/>
            <a:ext cx="1481328" cy="2286000"/>
          </a:xfrm>
          <a:prstGeom prst="roundRect">
            <a:avLst>
              <a:gd name="adj" fmla="val 4938"/>
            </a:avLst>
          </a:prstGeom>
          <a:solidFill>
            <a:srgbClr val="E8EEF7"/>
          </a:solidFill>
          <a:ln w="9525">
            <a:solidFill>
              <a:srgbClr val="D5DEEA"/>
            </a:solidFill>
            <a:prstDash val="solid"/>
          </a:ln>
        </p:spPr>
      </p:sp>
      <p:sp>
        <p:nvSpPr>
          <p:cNvPr id="29" name="Text 27"/>
          <p:cNvSpPr txBox="1"/>
          <p:nvPr/>
        </p:nvSpPr>
        <p:spPr>
          <a:xfrm>
            <a:off x="10241280" y="1920240"/>
            <a:ext cx="1298448" cy="411480"/>
          </a:xfrm>
          <a:prstGeom prst="rect">
            <a:avLst/>
          </a:prstGeom>
          <a:noFill/>
          <a:ln/>
        </p:spPr>
        <p:txBody>
          <a:bodyPr wrap="square" lIns="0" tIns="0" rIns="0" bIns="0" rtlCol="0" anchor="ctr"/>
          <a:lstStyle/>
          <a:p>
            <a:pPr algn="ctr" indent="0" marL="0">
              <a:buNone/>
            </a:pPr>
            <a:r>
              <a:rPr lang="en-US" sz="1600" b="1" dirty="0">
                <a:solidFill>
                  <a:srgbClr val="0F2748"/>
                </a:solidFill>
                <a:latin typeface="Cambria" pitchFamily="34" charset="0"/>
                <a:ea typeface="Cambria" pitchFamily="34" charset="-122"/>
                <a:cs typeface="Cambria" pitchFamily="34" charset="-120"/>
              </a:rPr>
              <a:t>Output</a:t>
            </a:r>
            <a:endParaRPr lang="en-US" sz="1600" dirty="0"/>
          </a:p>
        </p:txBody>
      </p:sp>
      <p:sp>
        <p:nvSpPr>
          <p:cNvPr id="30" name="Text 28"/>
          <p:cNvSpPr txBox="1"/>
          <p:nvPr/>
        </p:nvSpPr>
        <p:spPr>
          <a:xfrm>
            <a:off x="10259568" y="2377440"/>
            <a:ext cx="1261872" cy="160020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result card · spec clause · Word · extension · REST / MCP API</a:t>
            </a:r>
            <a:endParaRPr lang="en-US" sz="1150" dirty="0"/>
          </a:p>
        </p:txBody>
      </p:sp>
      <p:sp>
        <p:nvSpPr>
          <p:cNvPr id="31" name="Shape 29"/>
          <p:cNvSpPr/>
          <p:nvPr/>
        </p:nvSpPr>
        <p:spPr>
          <a:xfrm>
            <a:off x="548640" y="4434840"/>
            <a:ext cx="3566160" cy="1600200"/>
          </a:xfrm>
          <a:prstGeom prst="roundRect">
            <a:avLst>
              <a:gd name="adj" fmla="val 4571"/>
            </a:avLst>
          </a:prstGeom>
          <a:solidFill>
            <a:srgbClr val="F6F8FB"/>
          </a:solidFill>
          <a:ln w="9525">
            <a:solidFill>
              <a:srgbClr val="D5DEEA"/>
            </a:solidFill>
            <a:prstDash val="solid"/>
          </a:ln>
        </p:spPr>
      </p:sp>
      <p:sp>
        <p:nvSpPr>
          <p:cNvPr id="32" name="Shape 30"/>
          <p:cNvSpPr/>
          <p:nvPr/>
        </p:nvSpPr>
        <p:spPr>
          <a:xfrm>
            <a:off x="749808" y="4617720"/>
            <a:ext cx="530352" cy="530352"/>
          </a:xfrm>
          <a:prstGeom prst="ellipse">
            <a:avLst/>
          </a:prstGeom>
          <a:solidFill>
            <a:srgbClr val="0F2748"/>
          </a:solidFill>
          <a:ln w="12700">
            <a:solidFill>
              <a:srgbClr val="0F2748"/>
            </a:solidFill>
            <a:prstDash val="solid"/>
          </a:ln>
        </p:spPr>
      </p:sp>
      <p:pic>
        <p:nvPicPr>
          <p:cNvPr id="33" name="Image 0" descr="preencoded.png">    </p:cNvPr>
          <p:cNvPicPr>
            <a:picLocks noChangeAspect="1"/>
          </p:cNvPicPr>
          <p:nvPr/>
        </p:nvPicPr>
        <p:blipFill>
          <a:blip r:embed="rId1"/>
          <a:stretch>
            <a:fillRect/>
          </a:stretch>
        </p:blipFill>
        <p:spPr>
          <a:xfrm>
            <a:off x="877092" y="4745004"/>
            <a:ext cx="275783" cy="275783"/>
          </a:xfrm>
          <a:prstGeom prst="rect">
            <a:avLst/>
          </a:prstGeom>
        </p:spPr>
      </p:pic>
      <p:sp>
        <p:nvSpPr>
          <p:cNvPr id="34" name="Text 31"/>
          <p:cNvSpPr txBox="1"/>
          <p:nvPr/>
        </p:nvSpPr>
        <p:spPr>
          <a:xfrm>
            <a:off x="1417320" y="4617720"/>
            <a:ext cx="2606040" cy="502920"/>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Never invents a standard</a:t>
            </a:r>
            <a:endParaRPr lang="en-US" sz="1500" dirty="0"/>
          </a:p>
        </p:txBody>
      </p:sp>
      <p:sp>
        <p:nvSpPr>
          <p:cNvPr id="35" name="Text 32"/>
          <p:cNvSpPr txBox="1"/>
          <p:nvPr/>
        </p:nvSpPr>
        <p:spPr>
          <a:xfrm>
            <a:off x="749808" y="5230368"/>
            <a:ext cx="3200400" cy="7315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Every IS it shows exists in the BIS catalogue; vague or service requests get no recommendation (91 %).</a:t>
            </a:r>
            <a:endParaRPr lang="en-US" sz="1200" dirty="0"/>
          </a:p>
        </p:txBody>
      </p:sp>
      <p:sp>
        <p:nvSpPr>
          <p:cNvPr id="36" name="Shape 33"/>
          <p:cNvSpPr/>
          <p:nvPr/>
        </p:nvSpPr>
        <p:spPr>
          <a:xfrm>
            <a:off x="4297680" y="4434840"/>
            <a:ext cx="3566160" cy="1600200"/>
          </a:xfrm>
          <a:prstGeom prst="roundRect">
            <a:avLst>
              <a:gd name="adj" fmla="val 4571"/>
            </a:avLst>
          </a:prstGeom>
          <a:solidFill>
            <a:srgbClr val="F6F8FB"/>
          </a:solidFill>
          <a:ln w="9525">
            <a:solidFill>
              <a:srgbClr val="D5DEEA"/>
            </a:solidFill>
            <a:prstDash val="solid"/>
          </a:ln>
        </p:spPr>
      </p:sp>
      <p:sp>
        <p:nvSpPr>
          <p:cNvPr id="37" name="Shape 34"/>
          <p:cNvSpPr/>
          <p:nvPr/>
        </p:nvSpPr>
        <p:spPr>
          <a:xfrm>
            <a:off x="4498848" y="4617720"/>
            <a:ext cx="530352" cy="530352"/>
          </a:xfrm>
          <a:prstGeom prst="ellipse">
            <a:avLst/>
          </a:prstGeom>
          <a:solidFill>
            <a:srgbClr val="0F2748"/>
          </a:solidFill>
          <a:ln w="12700">
            <a:solidFill>
              <a:srgbClr val="0F2748"/>
            </a:solidFill>
            <a:prstDash val="solid"/>
          </a:ln>
        </p:spPr>
      </p:sp>
      <p:pic>
        <p:nvPicPr>
          <p:cNvPr id="38" name="Image 1" descr="preencoded.png">    </p:cNvPr>
          <p:cNvPicPr>
            <a:picLocks noChangeAspect="1"/>
          </p:cNvPicPr>
          <p:nvPr/>
        </p:nvPicPr>
        <p:blipFill>
          <a:blip r:embed="rId2"/>
          <a:stretch>
            <a:fillRect/>
          </a:stretch>
        </p:blipFill>
        <p:spPr>
          <a:xfrm>
            <a:off x="4626132" y="4745004"/>
            <a:ext cx="275783" cy="275783"/>
          </a:xfrm>
          <a:prstGeom prst="rect">
            <a:avLst/>
          </a:prstGeom>
        </p:spPr>
      </p:pic>
      <p:sp>
        <p:nvSpPr>
          <p:cNvPr id="39" name="Text 35"/>
          <p:cNvSpPr txBox="1"/>
          <p:nvPr/>
        </p:nvSpPr>
        <p:spPr>
          <a:xfrm>
            <a:off x="5166360" y="4617720"/>
            <a:ext cx="2606040" cy="502920"/>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Explains itself</a:t>
            </a:r>
            <a:endParaRPr lang="en-US" sz="1500" dirty="0"/>
          </a:p>
        </p:txBody>
      </p:sp>
      <p:sp>
        <p:nvSpPr>
          <p:cNvPr id="40" name="Text 36"/>
          <p:cNvSpPr txBox="1"/>
          <p:nvPr/>
        </p:nvSpPr>
        <p:spPr>
          <a:xfrm>
            <a:off x="4498848" y="5230368"/>
            <a:ext cx="3200400" cy="7315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Scope clause highlighted, keyword/meaning ranks, coverage, source &amp; check date on every line.</a:t>
            </a:r>
            <a:endParaRPr lang="en-US" sz="1200" dirty="0"/>
          </a:p>
        </p:txBody>
      </p:sp>
      <p:sp>
        <p:nvSpPr>
          <p:cNvPr id="41" name="Shape 37"/>
          <p:cNvSpPr/>
          <p:nvPr/>
        </p:nvSpPr>
        <p:spPr>
          <a:xfrm>
            <a:off x="8046720" y="4434840"/>
            <a:ext cx="3566160" cy="1600200"/>
          </a:xfrm>
          <a:prstGeom prst="roundRect">
            <a:avLst>
              <a:gd name="adj" fmla="val 4571"/>
            </a:avLst>
          </a:prstGeom>
          <a:solidFill>
            <a:srgbClr val="F6F8FB"/>
          </a:solidFill>
          <a:ln w="9525">
            <a:solidFill>
              <a:srgbClr val="D5DEEA"/>
            </a:solidFill>
            <a:prstDash val="solid"/>
          </a:ln>
        </p:spPr>
      </p:sp>
      <p:sp>
        <p:nvSpPr>
          <p:cNvPr id="42" name="Shape 38"/>
          <p:cNvSpPr/>
          <p:nvPr/>
        </p:nvSpPr>
        <p:spPr>
          <a:xfrm>
            <a:off x="8247888" y="4617720"/>
            <a:ext cx="530352" cy="530352"/>
          </a:xfrm>
          <a:prstGeom prst="ellipse">
            <a:avLst/>
          </a:prstGeom>
          <a:solidFill>
            <a:srgbClr val="0F2748"/>
          </a:solidFill>
          <a:ln w="12700">
            <a:solidFill>
              <a:srgbClr val="0F2748"/>
            </a:solidFill>
            <a:prstDash val="solid"/>
          </a:ln>
        </p:spPr>
      </p:sp>
      <p:pic>
        <p:nvPicPr>
          <p:cNvPr id="43" name="Image 2" descr="preencoded.png">    </p:cNvPr>
          <p:cNvPicPr>
            <a:picLocks noChangeAspect="1"/>
          </p:cNvPicPr>
          <p:nvPr/>
        </p:nvPicPr>
        <p:blipFill>
          <a:blip r:embed="rId3"/>
          <a:stretch>
            <a:fillRect/>
          </a:stretch>
        </p:blipFill>
        <p:spPr>
          <a:xfrm>
            <a:off x="8375172" y="4745004"/>
            <a:ext cx="275783" cy="275783"/>
          </a:xfrm>
          <a:prstGeom prst="rect">
            <a:avLst/>
          </a:prstGeom>
        </p:spPr>
      </p:pic>
      <p:sp>
        <p:nvSpPr>
          <p:cNvPr id="44" name="Text 39"/>
          <p:cNvSpPr txBox="1"/>
          <p:nvPr/>
        </p:nvSpPr>
        <p:spPr>
          <a:xfrm>
            <a:off x="8915400" y="4617720"/>
            <a:ext cx="2606040" cy="502920"/>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Runs offline, on-prem</a:t>
            </a:r>
            <a:endParaRPr lang="en-US" sz="1500" dirty="0"/>
          </a:p>
        </p:txBody>
      </p:sp>
      <p:sp>
        <p:nvSpPr>
          <p:cNvPr id="45" name="Text 40"/>
          <p:cNvSpPr txBox="1"/>
          <p:nvPr/>
        </p:nvSpPr>
        <p:spPr>
          <a:xfrm>
            <a:off x="8247888" y="5230368"/>
            <a:ext cx="3200400" cy="7315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No paid LLM needed; an LLM is optional for translation polish and never decides.</a:t>
            </a:r>
            <a:endParaRPr lang="en-US" sz="1200" dirty="0"/>
          </a:p>
        </p:txBody>
      </p:sp>
      <p:sp>
        <p:nvSpPr>
          <p:cNvPr id="46" name="Text 4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One query, one defensible answer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“PVC insulated copper wire for house wiring, 450/750 V” → IS 694</a:t>
            </a:r>
            <a:endParaRPr lang="en-US" sz="1600" dirty="0"/>
          </a:p>
        </p:txBody>
      </p:sp>
      <p:sp>
        <p:nvSpPr>
          <p:cNvPr id="4" name="Shape 2"/>
          <p:cNvSpPr/>
          <p:nvPr/>
        </p:nvSpPr>
        <p:spPr>
          <a:xfrm>
            <a:off x="475488" y="2105666"/>
            <a:ext cx="7370064" cy="3606788"/>
          </a:xfrm>
          <a:prstGeom prst="roundRect">
            <a:avLst>
              <a:gd name="adj" fmla="val 2028"/>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5" name="Image 0" descr="/tmp/claude-0/deck/img/card.png">    </p:cNvPr>
          <p:cNvPicPr>
            <a:picLocks noChangeAspect="1"/>
          </p:cNvPicPr>
          <p:nvPr/>
        </p:nvPicPr>
        <p:blipFill>
          <a:blip r:embed="rId1"/>
          <a:stretch>
            <a:fillRect/>
          </a:stretch>
        </p:blipFill>
        <p:spPr>
          <a:xfrm>
            <a:off x="548640" y="2178818"/>
            <a:ext cx="7223760" cy="3460484"/>
          </a:xfrm>
          <a:prstGeom prst="rect">
            <a:avLst/>
          </a:prstGeom>
        </p:spPr>
      </p:pic>
      <p:sp>
        <p:nvSpPr>
          <p:cNvPr id="6" name="Shape 3"/>
          <p:cNvSpPr/>
          <p:nvPr/>
        </p:nvSpPr>
        <p:spPr>
          <a:xfrm>
            <a:off x="8183880" y="1737360"/>
            <a:ext cx="384048" cy="384048"/>
          </a:xfrm>
          <a:prstGeom prst="ellipse">
            <a:avLst/>
          </a:prstGeom>
          <a:solidFill>
            <a:srgbClr val="138808"/>
          </a:solidFill>
          <a:ln w="12700">
            <a:solidFill>
              <a:srgbClr val="138808"/>
            </a:solidFill>
            <a:prstDash val="solid"/>
          </a:ln>
        </p:spPr>
      </p:sp>
      <p:pic>
        <p:nvPicPr>
          <p:cNvPr id="7" name="Image 1" descr="preencoded.png">    </p:cNvPr>
          <p:cNvPicPr>
            <a:picLocks noChangeAspect="1"/>
          </p:cNvPicPr>
          <p:nvPr/>
        </p:nvPicPr>
        <p:blipFill>
          <a:blip r:embed="rId2"/>
          <a:stretch>
            <a:fillRect/>
          </a:stretch>
        </p:blipFill>
        <p:spPr>
          <a:xfrm>
            <a:off x="8276052" y="1829532"/>
            <a:ext cx="199705" cy="199705"/>
          </a:xfrm>
          <a:prstGeom prst="rect">
            <a:avLst/>
          </a:prstGeom>
        </p:spPr>
      </p:pic>
      <p:sp>
        <p:nvSpPr>
          <p:cNvPr id="8" name="Text 4"/>
          <p:cNvSpPr txBox="1"/>
          <p:nvPr/>
        </p:nvSpPr>
        <p:spPr>
          <a:xfrm>
            <a:off x="8686800" y="1691640"/>
            <a:ext cx="3017520" cy="310896"/>
          </a:xfrm>
          <a:prstGeom prst="rect">
            <a:avLst/>
          </a:prstGeom>
          <a:noFill/>
          <a:ln/>
        </p:spPr>
        <p:txBody>
          <a:bodyPr wrap="square" lIns="0" tIns="0" rIns="0" bIns="0" rtlCol="0" anchor="ctr"/>
          <a:lstStyle/>
          <a:p>
            <a:pPr indent="0" marL="0">
              <a:buNone/>
            </a:pPr>
            <a:r>
              <a:rPr lang="en-US" sz="1450" b="1" dirty="0">
                <a:solidFill>
                  <a:srgbClr val="0F2748"/>
                </a:solidFill>
                <a:latin typeface="Calibri" pitchFamily="34" charset="0"/>
                <a:ea typeface="Calibri" pitchFamily="34" charset="-122"/>
                <a:cs typeface="Calibri" pitchFamily="34" charset="-120"/>
              </a:rPr>
              <a:t>Why it matches</a:t>
            </a:r>
            <a:endParaRPr lang="en-US" sz="1450" dirty="0"/>
          </a:p>
        </p:txBody>
      </p:sp>
      <p:sp>
        <p:nvSpPr>
          <p:cNvPr id="9" name="Text 5"/>
          <p:cNvSpPr txBox="1"/>
          <p:nvPr/>
        </p:nvSpPr>
        <p:spPr>
          <a:xfrm>
            <a:off x="8686800" y="2002536"/>
            <a:ext cx="3017520" cy="5486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the standard’s own Scope clause, highlighted — plus keyword rank, meaning rank and coverage</a:t>
            </a:r>
            <a:endParaRPr lang="en-US" sz="1150" dirty="0"/>
          </a:p>
        </p:txBody>
      </p:sp>
      <p:sp>
        <p:nvSpPr>
          <p:cNvPr id="10" name="Shape 6"/>
          <p:cNvSpPr/>
          <p:nvPr/>
        </p:nvSpPr>
        <p:spPr>
          <a:xfrm>
            <a:off x="8183880" y="2633472"/>
            <a:ext cx="384048" cy="384048"/>
          </a:xfrm>
          <a:prstGeom prst="ellipse">
            <a:avLst/>
          </a:prstGeom>
          <a:solidFill>
            <a:srgbClr val="138808"/>
          </a:solidFill>
          <a:ln w="12700">
            <a:solidFill>
              <a:srgbClr val="138808"/>
            </a:solidFill>
            <a:prstDash val="solid"/>
          </a:ln>
        </p:spPr>
      </p:sp>
      <p:pic>
        <p:nvPicPr>
          <p:cNvPr id="11" name="Image 2" descr="preencoded.png">    </p:cNvPr>
          <p:cNvPicPr>
            <a:picLocks noChangeAspect="1"/>
          </p:cNvPicPr>
          <p:nvPr/>
        </p:nvPicPr>
        <p:blipFill>
          <a:blip r:embed="rId3"/>
          <a:stretch>
            <a:fillRect/>
          </a:stretch>
        </p:blipFill>
        <p:spPr>
          <a:xfrm>
            <a:off x="8276052" y="2725644"/>
            <a:ext cx="199705" cy="199705"/>
          </a:xfrm>
          <a:prstGeom prst="rect">
            <a:avLst/>
          </a:prstGeom>
        </p:spPr>
      </p:pic>
      <p:sp>
        <p:nvSpPr>
          <p:cNvPr id="12" name="Text 7"/>
          <p:cNvSpPr txBox="1"/>
          <p:nvPr/>
        </p:nvSpPr>
        <p:spPr>
          <a:xfrm>
            <a:off x="8686800" y="2587752"/>
            <a:ext cx="3017520" cy="310896"/>
          </a:xfrm>
          <a:prstGeom prst="rect">
            <a:avLst/>
          </a:prstGeom>
          <a:noFill/>
          <a:ln/>
        </p:spPr>
        <p:txBody>
          <a:bodyPr wrap="square" lIns="0" tIns="0" rIns="0" bIns="0" rtlCol="0" anchor="ctr"/>
          <a:lstStyle/>
          <a:p>
            <a:pPr indent="0" marL="0">
              <a:buNone/>
            </a:pPr>
            <a:r>
              <a:rPr lang="en-US" sz="1450" b="1" dirty="0">
                <a:solidFill>
                  <a:srgbClr val="0F2748"/>
                </a:solidFill>
                <a:latin typeface="Calibri" pitchFamily="34" charset="0"/>
                <a:ea typeface="Calibri" pitchFamily="34" charset="-122"/>
                <a:cs typeface="Calibri" pitchFamily="34" charset="-120"/>
              </a:rPr>
              <a:t>In force today</a:t>
            </a:r>
            <a:endParaRPr lang="en-US" sz="1450" dirty="0"/>
          </a:p>
        </p:txBody>
      </p:sp>
      <p:sp>
        <p:nvSpPr>
          <p:cNvPr id="13" name="Text 8"/>
          <p:cNvSpPr txBox="1"/>
          <p:nvPr/>
        </p:nvSpPr>
        <p:spPr>
          <a:xfrm>
            <a:off x="8686800" y="2898648"/>
            <a:ext cx="3017520" cy="5486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IS 694:2010 with Amendments 1–4, reaffirmed 2020 — from the BIS portal, dated</a:t>
            </a:r>
            <a:endParaRPr lang="en-US" sz="1150" dirty="0"/>
          </a:p>
        </p:txBody>
      </p:sp>
      <p:sp>
        <p:nvSpPr>
          <p:cNvPr id="14" name="Shape 9"/>
          <p:cNvSpPr/>
          <p:nvPr/>
        </p:nvSpPr>
        <p:spPr>
          <a:xfrm>
            <a:off x="8183880" y="3529584"/>
            <a:ext cx="384048" cy="384048"/>
          </a:xfrm>
          <a:prstGeom prst="ellipse">
            <a:avLst/>
          </a:prstGeom>
          <a:solidFill>
            <a:srgbClr val="138808"/>
          </a:solidFill>
          <a:ln w="12700">
            <a:solidFill>
              <a:srgbClr val="138808"/>
            </a:solidFill>
            <a:prstDash val="solid"/>
          </a:ln>
        </p:spPr>
      </p:sp>
      <p:pic>
        <p:nvPicPr>
          <p:cNvPr id="15" name="Image 3" descr="preencoded.png">    </p:cNvPr>
          <p:cNvPicPr>
            <a:picLocks noChangeAspect="1"/>
          </p:cNvPicPr>
          <p:nvPr/>
        </p:nvPicPr>
        <p:blipFill>
          <a:blip r:embed="rId4"/>
          <a:stretch>
            <a:fillRect/>
          </a:stretch>
        </p:blipFill>
        <p:spPr>
          <a:xfrm>
            <a:off x="8276052" y="3621756"/>
            <a:ext cx="199705" cy="199705"/>
          </a:xfrm>
          <a:prstGeom prst="rect">
            <a:avLst/>
          </a:prstGeom>
        </p:spPr>
      </p:pic>
      <p:sp>
        <p:nvSpPr>
          <p:cNvPr id="16" name="Text 10"/>
          <p:cNvSpPr txBox="1"/>
          <p:nvPr/>
        </p:nvSpPr>
        <p:spPr>
          <a:xfrm>
            <a:off x="8686800" y="3483864"/>
            <a:ext cx="3017520" cy="310896"/>
          </a:xfrm>
          <a:prstGeom prst="rect">
            <a:avLst/>
          </a:prstGeom>
          <a:noFill/>
          <a:ln/>
        </p:spPr>
        <p:txBody>
          <a:bodyPr wrap="square" lIns="0" tIns="0" rIns="0" bIns="0" rtlCol="0" anchor="ctr"/>
          <a:lstStyle/>
          <a:p>
            <a:pPr indent="0" marL="0">
              <a:buNone/>
            </a:pPr>
            <a:r>
              <a:rPr lang="en-US" sz="1450" b="1" dirty="0">
                <a:solidFill>
                  <a:srgbClr val="0F2748"/>
                </a:solidFill>
                <a:latin typeface="Calibri" pitchFamily="34" charset="0"/>
                <a:ea typeface="Calibri" pitchFamily="34" charset="-122"/>
                <a:cs typeface="Calibri" pitchFamily="34" charset="-120"/>
              </a:rPr>
              <a:t>Compulsory certification</a:t>
            </a:r>
            <a:endParaRPr lang="en-US" sz="1450" dirty="0"/>
          </a:p>
        </p:txBody>
      </p:sp>
      <p:sp>
        <p:nvSpPr>
          <p:cNvPr id="17" name="Text 11"/>
          <p:cNvSpPr txBox="1"/>
          <p:nvPr/>
        </p:nvSpPr>
        <p:spPr>
          <a:xfrm>
            <a:off x="8686800" y="3794760"/>
            <a:ext cx="3017520" cy="5486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ISI mark under the Electrical Wires &amp; Cables QCO, 2003</a:t>
            </a:r>
            <a:endParaRPr lang="en-US" sz="1150" dirty="0"/>
          </a:p>
        </p:txBody>
      </p:sp>
      <p:sp>
        <p:nvSpPr>
          <p:cNvPr id="18" name="Shape 12"/>
          <p:cNvSpPr/>
          <p:nvPr/>
        </p:nvSpPr>
        <p:spPr>
          <a:xfrm>
            <a:off x="8183880" y="4425696"/>
            <a:ext cx="384048" cy="384048"/>
          </a:xfrm>
          <a:prstGeom prst="ellipse">
            <a:avLst/>
          </a:prstGeom>
          <a:solidFill>
            <a:srgbClr val="138808"/>
          </a:solidFill>
          <a:ln w="12700">
            <a:solidFill>
              <a:srgbClr val="138808"/>
            </a:solidFill>
            <a:prstDash val="solid"/>
          </a:ln>
        </p:spPr>
      </p:sp>
      <p:pic>
        <p:nvPicPr>
          <p:cNvPr id="19" name="Image 4" descr="preencoded.png">    </p:cNvPr>
          <p:cNvPicPr>
            <a:picLocks noChangeAspect="1"/>
          </p:cNvPicPr>
          <p:nvPr/>
        </p:nvPicPr>
        <p:blipFill>
          <a:blip r:embed="rId5"/>
          <a:stretch>
            <a:fillRect/>
          </a:stretch>
        </p:blipFill>
        <p:spPr>
          <a:xfrm>
            <a:off x="8276052" y="4517868"/>
            <a:ext cx="199705" cy="199705"/>
          </a:xfrm>
          <a:prstGeom prst="rect">
            <a:avLst/>
          </a:prstGeom>
        </p:spPr>
      </p:pic>
      <p:sp>
        <p:nvSpPr>
          <p:cNvPr id="20" name="Text 13"/>
          <p:cNvSpPr txBox="1"/>
          <p:nvPr/>
        </p:nvSpPr>
        <p:spPr>
          <a:xfrm>
            <a:off x="8686800" y="4379976"/>
            <a:ext cx="3017520" cy="310896"/>
          </a:xfrm>
          <a:prstGeom prst="rect">
            <a:avLst/>
          </a:prstGeom>
          <a:noFill/>
          <a:ln/>
        </p:spPr>
        <p:txBody>
          <a:bodyPr wrap="square" lIns="0" tIns="0" rIns="0" bIns="0" rtlCol="0" anchor="ctr"/>
          <a:lstStyle/>
          <a:p>
            <a:pPr indent="0" marL="0">
              <a:buNone/>
            </a:pPr>
            <a:r>
              <a:rPr lang="en-US" sz="1450" b="1" dirty="0">
                <a:solidFill>
                  <a:srgbClr val="0F2748"/>
                </a:solidFill>
                <a:latin typeface="Calibri" pitchFamily="34" charset="0"/>
                <a:ea typeface="Calibri" pitchFamily="34" charset="-122"/>
                <a:cs typeface="Calibri" pitchFamily="34" charset="-120"/>
              </a:rPr>
              <a:t>Procurement reality</a:t>
            </a:r>
            <a:endParaRPr lang="en-US" sz="1450" dirty="0"/>
          </a:p>
        </p:txBody>
      </p:sp>
      <p:sp>
        <p:nvSpPr>
          <p:cNvPr id="21" name="Text 14"/>
          <p:cNvSpPr txBox="1"/>
          <p:nvPr/>
        </p:nvSpPr>
        <p:spPr>
          <a:xfrm>
            <a:off x="8686800" y="4690872"/>
            <a:ext cx="3017520" cy="5486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the GeM categories that buy against it (96 + 67 live bids)</a:t>
            </a:r>
            <a:endParaRPr lang="en-US" sz="1150" dirty="0"/>
          </a:p>
        </p:txBody>
      </p:sp>
      <p:sp>
        <p:nvSpPr>
          <p:cNvPr id="22" name="Shape 15"/>
          <p:cNvSpPr/>
          <p:nvPr/>
        </p:nvSpPr>
        <p:spPr>
          <a:xfrm>
            <a:off x="8183880" y="5321808"/>
            <a:ext cx="384048" cy="384048"/>
          </a:xfrm>
          <a:prstGeom prst="ellipse">
            <a:avLst/>
          </a:prstGeom>
          <a:solidFill>
            <a:srgbClr val="138808"/>
          </a:solidFill>
          <a:ln w="12700">
            <a:solidFill>
              <a:srgbClr val="138808"/>
            </a:solidFill>
            <a:prstDash val="solid"/>
          </a:ln>
        </p:spPr>
      </p:sp>
      <p:pic>
        <p:nvPicPr>
          <p:cNvPr id="23" name="Image 5" descr="preencoded.png">    </p:cNvPr>
          <p:cNvPicPr>
            <a:picLocks noChangeAspect="1"/>
          </p:cNvPicPr>
          <p:nvPr/>
        </p:nvPicPr>
        <p:blipFill>
          <a:blip r:embed="rId6"/>
          <a:stretch>
            <a:fillRect/>
          </a:stretch>
        </p:blipFill>
        <p:spPr>
          <a:xfrm>
            <a:off x="8276052" y="5413980"/>
            <a:ext cx="199705" cy="199705"/>
          </a:xfrm>
          <a:prstGeom prst="rect">
            <a:avLst/>
          </a:prstGeom>
        </p:spPr>
      </p:pic>
      <p:sp>
        <p:nvSpPr>
          <p:cNvPr id="24" name="Text 16"/>
          <p:cNvSpPr txBox="1"/>
          <p:nvPr/>
        </p:nvSpPr>
        <p:spPr>
          <a:xfrm>
            <a:off x="8686800" y="5276088"/>
            <a:ext cx="3017520" cy="310896"/>
          </a:xfrm>
          <a:prstGeom prst="rect">
            <a:avLst/>
          </a:prstGeom>
          <a:noFill/>
          <a:ln/>
        </p:spPr>
        <p:txBody>
          <a:bodyPr wrap="square" lIns="0" tIns="0" rIns="0" bIns="0" rtlCol="0" anchor="ctr"/>
          <a:lstStyle/>
          <a:p>
            <a:pPr indent="0" marL="0">
              <a:buNone/>
            </a:pPr>
            <a:r>
              <a:rPr lang="en-US" sz="1450" b="1" dirty="0">
                <a:solidFill>
                  <a:srgbClr val="0F2748"/>
                </a:solidFill>
                <a:latin typeface="Calibri" pitchFamily="34" charset="0"/>
                <a:ea typeface="Calibri" pitchFamily="34" charset="-122"/>
                <a:cs typeface="Calibri" pitchFamily="34" charset="-120"/>
              </a:rPr>
              <a:t>Allied standards</a:t>
            </a:r>
            <a:endParaRPr lang="en-US" sz="1450" dirty="0"/>
          </a:p>
        </p:txBody>
      </p:sp>
      <p:sp>
        <p:nvSpPr>
          <p:cNvPr id="25" name="Text 17"/>
          <p:cNvSpPr txBox="1"/>
          <p:nvPr/>
        </p:nvSpPr>
        <p:spPr>
          <a:xfrm>
            <a:off x="8686800" y="5586984"/>
            <a:ext cx="3017520" cy="5486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IS 8130 conductors, IS 5831 PVC, IS 10810 test methods — each with its sentence</a:t>
            </a:r>
            <a:endParaRPr lang="en-US" sz="1150" dirty="0"/>
          </a:p>
        </p:txBody>
      </p:sp>
      <p:sp>
        <p:nvSpPr>
          <p:cNvPr id="26" name="Text 1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Everything the supplier must satisfy — and where to test it</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Compliance tree from the standards’ own clauses · labs and charges from BIS LIMS</a:t>
            </a:r>
            <a:endParaRPr lang="en-US" sz="1600" dirty="0"/>
          </a:p>
        </p:txBody>
      </p:sp>
      <p:sp>
        <p:nvSpPr>
          <p:cNvPr id="4" name="Shape 2"/>
          <p:cNvSpPr/>
          <p:nvPr/>
        </p:nvSpPr>
        <p:spPr>
          <a:xfrm>
            <a:off x="475488" y="1941882"/>
            <a:ext cx="6135624" cy="2791357"/>
          </a:xfrm>
          <a:prstGeom prst="roundRect">
            <a:avLst>
              <a:gd name="adj" fmla="val 2621"/>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5" name="Image 0" descr="/tmp/claude-0/deck/img/tree.png">    </p:cNvPr>
          <p:cNvPicPr>
            <a:picLocks noChangeAspect="1"/>
          </p:cNvPicPr>
          <p:nvPr/>
        </p:nvPicPr>
        <p:blipFill>
          <a:blip r:embed="rId1"/>
          <a:stretch>
            <a:fillRect/>
          </a:stretch>
        </p:blipFill>
        <p:spPr>
          <a:xfrm>
            <a:off x="548640" y="2015034"/>
            <a:ext cx="5989320" cy="2645053"/>
          </a:xfrm>
          <a:prstGeom prst="rect">
            <a:avLst/>
          </a:prstGeom>
        </p:spPr>
      </p:pic>
      <p:sp>
        <p:nvSpPr>
          <p:cNvPr id="6" name="Shape 3"/>
          <p:cNvSpPr/>
          <p:nvPr/>
        </p:nvSpPr>
        <p:spPr>
          <a:xfrm>
            <a:off x="6830568" y="1629305"/>
            <a:ext cx="4901184" cy="3416510"/>
          </a:xfrm>
          <a:prstGeom prst="roundRect">
            <a:avLst>
              <a:gd name="adj" fmla="val 2141"/>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7" name="Image 1" descr="/tmp/claude-0/deck/img/labs_top.png">    </p:cNvPr>
          <p:cNvPicPr>
            <a:picLocks noChangeAspect="1"/>
          </p:cNvPicPr>
          <p:nvPr/>
        </p:nvPicPr>
        <p:blipFill>
          <a:blip r:embed="rId2"/>
          <a:stretch>
            <a:fillRect/>
          </a:stretch>
        </p:blipFill>
        <p:spPr>
          <a:xfrm>
            <a:off x="6903720" y="1702457"/>
            <a:ext cx="4754880" cy="3270206"/>
          </a:xfrm>
          <a:prstGeom prst="rect">
            <a:avLst/>
          </a:prstGeom>
        </p:spPr>
      </p:pic>
      <p:sp>
        <p:nvSpPr>
          <p:cNvPr id="8" name="Text 4"/>
          <p:cNvSpPr txBox="1"/>
          <p:nvPr/>
        </p:nvSpPr>
        <p:spPr>
          <a:xfrm>
            <a:off x="548640" y="5257800"/>
            <a:ext cx="5989320" cy="822960"/>
          </a:xfrm>
          <a:prstGeom prst="rect">
            <a:avLst/>
          </a:prstGeom>
          <a:noFill/>
          <a:ln/>
        </p:spPr>
        <p:txBody>
          <a:bodyPr wrap="square" lIns="0" tIns="0" rIns="0" bIns="0" rtlCol="0" anchor="ctr"/>
          <a:lstStyle/>
          <a:p>
            <a:pPr indent="0" marL="0">
              <a:buNone/>
            </a:pPr>
            <a:r>
              <a:rPr lang="en-US" sz="1300" b="1" dirty="0">
                <a:solidFill>
                  <a:srgbClr val="0F2748"/>
                </a:solidFill>
                <a:latin typeface="Calibri" pitchFamily="34" charset="0"/>
                <a:ea typeface="Calibri" pitchFamily="34" charset="-122"/>
                <a:cs typeface="Calibri" pitchFamily="34" charset="-120"/>
              </a:rPr>
              <a:t>Compliance tree  </a:t>
            </a:r>
            <a:pPr indent="0" marL="0">
              <a:buNone/>
            </a:pPr>
            <a:r>
              <a:rPr lang="en-US" sz="1300" dirty="0">
                <a:solidFill>
                  <a:srgbClr val="1F2937"/>
                </a:solidFill>
                <a:latin typeface="Calibri" pitchFamily="34" charset="0"/>
                <a:ea typeface="Calibri" pitchFamily="34" charset="-122"/>
                <a:cs typeface="Calibri" pitchFamily="34" charset="-120"/>
              </a:rPr>
              <a:t>IS 694 → 15 standards at depth 1 → 20 at depth 2. IS 1786 (TMT bars) → 7 → 29 → 37. Withdrawn nodes show their replacement.</a:t>
            </a:r>
            <a:endParaRPr lang="en-US" sz="1300" dirty="0"/>
          </a:p>
        </p:txBody>
      </p:sp>
      <p:sp>
        <p:nvSpPr>
          <p:cNvPr id="9" name="Text 5"/>
          <p:cNvSpPr txBox="1"/>
          <p:nvPr/>
        </p:nvSpPr>
        <p:spPr>
          <a:xfrm>
            <a:off x="6903720" y="5257800"/>
            <a:ext cx="4754880" cy="822960"/>
          </a:xfrm>
          <a:prstGeom prst="rect">
            <a:avLst/>
          </a:prstGeom>
          <a:noFill/>
          <a:ln/>
        </p:spPr>
        <p:txBody>
          <a:bodyPr wrap="square" lIns="0" tIns="0" rIns="0" bIns="0" rtlCol="0" anchor="ctr"/>
          <a:lstStyle/>
          <a:p>
            <a:pPr indent="0" marL="0">
              <a:buNone/>
            </a:pPr>
            <a:r>
              <a:rPr lang="en-US" sz="1300" b="1" dirty="0">
                <a:solidFill>
                  <a:srgbClr val="0F2748"/>
                </a:solidFill>
                <a:latin typeface="Calibri" pitchFamily="34" charset="0"/>
                <a:ea typeface="Calibri" pitchFamily="34" charset="-122"/>
                <a:cs typeface="Calibri" pitchFamily="34" charset="-120"/>
              </a:rPr>
              <a:t>Where to test  </a:t>
            </a:r>
            <a:pPr indent="0" marL="0">
              <a:buNone/>
            </a:pPr>
            <a:r>
              <a:rPr lang="en-US" sz="1300" dirty="0">
                <a:solidFill>
                  <a:srgbClr val="1F2937"/>
                </a:solidFill>
                <a:latin typeface="Calibri" pitchFamily="34" charset="0"/>
                <a:ea typeface="Calibri" pitchFamily="34" charset="-122"/>
                <a:cs typeface="Calibri" pitchFamily="34" charset="-120"/>
              </a:rPr>
              <a:t>52 BIS-recognised labs for IS 694, full test from ₹6,750, filter by city — 482 labs for 823 standards.</a:t>
            </a:r>
            <a:endParaRPr lang="en-US" sz="1300" dirty="0"/>
          </a:p>
        </p:txBody>
      </p:sp>
      <p:sp>
        <p:nvSpPr>
          <p:cNvPr id="10" name="Text 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Indian languages — read offline, shown word by word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Procurement Hindi is mostly English written in Devanagari; we read it by sound, not by a paid translator</a:t>
            </a:r>
            <a:endParaRPr lang="en-US" sz="1600" dirty="0"/>
          </a:p>
        </p:txBody>
      </p:sp>
      <p:sp>
        <p:nvSpPr>
          <p:cNvPr id="4" name="Shape 2"/>
          <p:cNvSpPr/>
          <p:nvPr/>
        </p:nvSpPr>
        <p:spPr>
          <a:xfrm>
            <a:off x="475488" y="1624838"/>
            <a:ext cx="6821424" cy="2556764"/>
          </a:xfrm>
          <a:prstGeom prst="roundRect">
            <a:avLst>
              <a:gd name="adj" fmla="val 2861"/>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5" name="Image 0" descr="/tmp/claude-0/deck/img/hindi.png">    </p:cNvPr>
          <p:cNvPicPr>
            <a:picLocks noChangeAspect="1"/>
          </p:cNvPicPr>
          <p:nvPr/>
        </p:nvPicPr>
        <p:blipFill>
          <a:blip r:embed="rId1"/>
          <a:stretch>
            <a:fillRect/>
          </a:stretch>
        </p:blipFill>
        <p:spPr>
          <a:xfrm>
            <a:off x="548640" y="1697990"/>
            <a:ext cx="6675120" cy="241046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6675120" cy="914400"/>
        </p:xfrm>
        <a:graphic>
          <a:graphicData uri="http://schemas.openxmlformats.org/drawingml/2006/table">
            <a:tbl>
              <a:tblPr/>
              <a:tblGrid>
                <a:gridCol w="2651760"/>
                <a:gridCol w="2377440"/>
                <a:gridCol w="16459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Buyer writes</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SpecSure reads</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स्प्लिट एयर कंडीशनर</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split air conditioner</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IS 1391 (Part 2)</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ಸೀಲಿಂಗ್ ಫ್ಯಾನ್ (Kannada)</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ceiling fan</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IS 374</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यूपीएस · एलपीजी</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UPS · LPG (spelled acronyms)</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IS 16242 · IS 3196</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பிளாஸ்டிக் நாற்காலி (Tamil)</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plastic chair</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IS 13713</a:t>
                      </a:r>
                      <a:endParaRPr lang="en-US" sz="1200" dirty="0">
                        <a:latin typeface="Calibri" charset="0"/>
                        <a:ea typeface="Calibri" charset="0"/>
                        <a:cs typeface="Calibri" charset="0"/>
                      </a:endParaRPr>
                    </a:p>
                  </a:txBody>
                  <a:tcPr marL="91440" marR="91440" marT="45720" marB="45720">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bl>
          </a:graphicData>
        </a:graphic>
      </p:graphicFrame>
      <p:sp>
        <p:nvSpPr>
          <p:cNvPr id="7" name="Shape 3"/>
          <p:cNvSpPr/>
          <p:nvPr/>
        </p:nvSpPr>
        <p:spPr>
          <a:xfrm>
            <a:off x="7635240" y="1737360"/>
            <a:ext cx="530352" cy="530352"/>
          </a:xfrm>
          <a:prstGeom prst="ellipse">
            <a:avLst/>
          </a:prstGeom>
          <a:solidFill>
            <a:srgbClr val="0F2748"/>
          </a:solidFill>
          <a:ln w="12700">
            <a:solidFill>
              <a:srgbClr val="0F2748"/>
            </a:solidFill>
            <a:prstDash val="solid"/>
          </a:ln>
        </p:spPr>
      </p:sp>
      <p:pic>
        <p:nvPicPr>
          <p:cNvPr id="8" name="Image 1" descr="preencoded.png">    </p:cNvPr>
          <p:cNvPicPr>
            <a:picLocks noChangeAspect="1"/>
          </p:cNvPicPr>
          <p:nvPr/>
        </p:nvPicPr>
        <p:blipFill>
          <a:blip r:embed="rId2"/>
          <a:stretch>
            <a:fillRect/>
          </a:stretch>
        </p:blipFill>
        <p:spPr>
          <a:xfrm>
            <a:off x="7762524" y="1864644"/>
            <a:ext cx="275783" cy="275783"/>
          </a:xfrm>
          <a:prstGeom prst="rect">
            <a:avLst/>
          </a:prstGeom>
        </p:spPr>
      </p:pic>
      <p:sp>
        <p:nvSpPr>
          <p:cNvPr id="9" name="Text 4"/>
          <p:cNvSpPr txBox="1"/>
          <p:nvPr/>
        </p:nvSpPr>
        <p:spPr>
          <a:xfrm>
            <a:off x="8321040" y="1719072"/>
            <a:ext cx="3383280" cy="347472"/>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Glossary + transliteration</a:t>
            </a:r>
            <a:endParaRPr lang="en-US" sz="1500" dirty="0"/>
          </a:p>
        </p:txBody>
      </p:sp>
      <p:sp>
        <p:nvSpPr>
          <p:cNvPr id="10" name="Text 5"/>
          <p:cNvSpPr txBox="1"/>
          <p:nvPr/>
        </p:nvSpPr>
        <p:spPr>
          <a:xfrm>
            <a:off x="8321040" y="2084832"/>
            <a:ext cx="3383280" cy="8686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hi · mr · ta · te · bn · kn; sound-skeleton matching (स्प्लिट → SPLT → split)</a:t>
            </a:r>
            <a:endParaRPr lang="en-US" sz="1200" dirty="0"/>
          </a:p>
        </p:txBody>
      </p:sp>
      <p:sp>
        <p:nvSpPr>
          <p:cNvPr id="11" name="Shape 6"/>
          <p:cNvSpPr/>
          <p:nvPr/>
        </p:nvSpPr>
        <p:spPr>
          <a:xfrm>
            <a:off x="7635240" y="3154680"/>
            <a:ext cx="530352" cy="530352"/>
          </a:xfrm>
          <a:prstGeom prst="ellipse">
            <a:avLst/>
          </a:prstGeom>
          <a:solidFill>
            <a:srgbClr val="0F2748"/>
          </a:solidFill>
          <a:ln w="12700">
            <a:solidFill>
              <a:srgbClr val="0F2748"/>
            </a:solidFill>
            <a:prstDash val="solid"/>
          </a:ln>
        </p:spPr>
      </p:sp>
      <p:pic>
        <p:nvPicPr>
          <p:cNvPr id="12" name="Image 2" descr="preencoded.png">    </p:cNvPr>
          <p:cNvPicPr>
            <a:picLocks noChangeAspect="1"/>
          </p:cNvPicPr>
          <p:nvPr/>
        </p:nvPicPr>
        <p:blipFill>
          <a:blip r:embed="rId3"/>
          <a:stretch>
            <a:fillRect/>
          </a:stretch>
        </p:blipFill>
        <p:spPr>
          <a:xfrm>
            <a:off x="7762524" y="3281964"/>
            <a:ext cx="275783" cy="275783"/>
          </a:xfrm>
          <a:prstGeom prst="rect">
            <a:avLst/>
          </a:prstGeom>
        </p:spPr>
      </p:pic>
      <p:sp>
        <p:nvSpPr>
          <p:cNvPr id="13" name="Text 7"/>
          <p:cNvSpPr txBox="1"/>
          <p:nvPr/>
        </p:nvSpPr>
        <p:spPr>
          <a:xfrm>
            <a:off x="8321040" y="3136392"/>
            <a:ext cx="3383280" cy="347472"/>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Voice in, voice out</a:t>
            </a:r>
            <a:endParaRPr lang="en-US" sz="1500" dirty="0"/>
          </a:p>
        </p:txBody>
      </p:sp>
      <p:sp>
        <p:nvSpPr>
          <p:cNvPr id="14" name="Text 8"/>
          <p:cNvSpPr txBox="1"/>
          <p:nvPr/>
        </p:nvSpPr>
        <p:spPr>
          <a:xfrm>
            <a:off x="8321040" y="3502152"/>
            <a:ext cx="3383280" cy="8686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speak the query; ‘Speak answers’ reads the result back (browser voices, no server)</a:t>
            </a:r>
            <a:endParaRPr lang="en-US" sz="1200" dirty="0"/>
          </a:p>
        </p:txBody>
      </p:sp>
      <p:sp>
        <p:nvSpPr>
          <p:cNvPr id="15" name="Shape 9"/>
          <p:cNvSpPr/>
          <p:nvPr/>
        </p:nvSpPr>
        <p:spPr>
          <a:xfrm>
            <a:off x="7635240" y="4572000"/>
            <a:ext cx="530352" cy="530352"/>
          </a:xfrm>
          <a:prstGeom prst="ellipse">
            <a:avLst/>
          </a:prstGeom>
          <a:solidFill>
            <a:srgbClr val="0F2748"/>
          </a:solidFill>
          <a:ln w="12700">
            <a:solidFill>
              <a:srgbClr val="0F2748"/>
            </a:solidFill>
            <a:prstDash val="solid"/>
          </a:ln>
        </p:spPr>
      </p:sp>
      <p:pic>
        <p:nvPicPr>
          <p:cNvPr id="16" name="Image 3" descr="preencoded.png">    </p:cNvPr>
          <p:cNvPicPr>
            <a:picLocks noChangeAspect="1"/>
          </p:cNvPicPr>
          <p:nvPr/>
        </p:nvPicPr>
        <p:blipFill>
          <a:blip r:embed="rId4"/>
          <a:stretch>
            <a:fillRect/>
          </a:stretch>
        </p:blipFill>
        <p:spPr>
          <a:xfrm>
            <a:off x="7762524" y="4699284"/>
            <a:ext cx="275783" cy="275783"/>
          </a:xfrm>
          <a:prstGeom prst="rect">
            <a:avLst/>
          </a:prstGeom>
        </p:spPr>
      </p:pic>
      <p:sp>
        <p:nvSpPr>
          <p:cNvPr id="17" name="Text 10"/>
          <p:cNvSpPr txBox="1"/>
          <p:nvPr/>
        </p:nvSpPr>
        <p:spPr>
          <a:xfrm>
            <a:off x="8321040" y="4553712"/>
            <a:ext cx="3383280" cy="347472"/>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Measured honestly</a:t>
            </a:r>
            <a:endParaRPr lang="en-US" sz="1500" dirty="0"/>
          </a:p>
        </p:txBody>
      </p:sp>
      <p:sp>
        <p:nvSpPr>
          <p:cNvPr id="18" name="Text 11"/>
          <p:cNvSpPr txBox="1"/>
          <p:nvPr/>
        </p:nvSpPr>
        <p:spPr>
          <a:xfrm>
            <a:off x="8321040" y="4919472"/>
            <a:ext cx="3383280" cy="8686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held-out set: 39 % first, 71 % in top 3 (clean) · 50 % / 79 % in product mode — our weakest area, and we say so</a:t>
            </a:r>
            <a:endParaRPr lang="en-US" sz="1200" dirty="0"/>
          </a:p>
        </p:txBody>
      </p:sp>
      <p:sp>
        <p:nvSpPr>
          <p:cNvPr id="19" name="Text 1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The edition in force — and a clause the officer can paste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“LED luminaire for road and street lights” → IS 10322 (Part 5/Sec 3)</a:t>
            </a:r>
            <a:endParaRPr lang="en-US" sz="1600" dirty="0"/>
          </a:p>
        </p:txBody>
      </p:sp>
      <p:sp>
        <p:nvSpPr>
          <p:cNvPr id="4" name="Shape 2"/>
          <p:cNvSpPr/>
          <p:nvPr/>
        </p:nvSpPr>
        <p:spPr>
          <a:xfrm>
            <a:off x="475488" y="1764409"/>
            <a:ext cx="5998464" cy="1591823"/>
          </a:xfrm>
          <a:prstGeom prst="roundRect">
            <a:avLst>
              <a:gd name="adj" fmla="val 4595"/>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5" name="Image 0" descr="/tmp/claude-0/deck/img/led_card.png">    </p:cNvPr>
          <p:cNvPicPr>
            <a:picLocks noChangeAspect="1"/>
          </p:cNvPicPr>
          <p:nvPr/>
        </p:nvPicPr>
        <p:blipFill>
          <a:blip r:embed="rId1"/>
          <a:stretch>
            <a:fillRect/>
          </a:stretch>
        </p:blipFill>
        <p:spPr>
          <a:xfrm>
            <a:off x="548640" y="1837561"/>
            <a:ext cx="5852160" cy="1445519"/>
          </a:xfrm>
          <a:prstGeom prst="rect">
            <a:avLst/>
          </a:prstGeom>
        </p:spPr>
      </p:pic>
      <p:sp>
        <p:nvSpPr>
          <p:cNvPr id="6" name="Shape 3"/>
          <p:cNvSpPr/>
          <p:nvPr/>
        </p:nvSpPr>
        <p:spPr>
          <a:xfrm>
            <a:off x="6647688" y="1680639"/>
            <a:ext cx="5084064" cy="3039523"/>
          </a:xfrm>
          <a:prstGeom prst="roundRect">
            <a:avLst>
              <a:gd name="adj" fmla="val 2407"/>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7" name="Image 1" descr="/tmp/claude-0/deck/img/specblock_top.png">    </p:cNvPr>
          <p:cNvPicPr>
            <a:picLocks noChangeAspect="1"/>
          </p:cNvPicPr>
          <p:nvPr/>
        </p:nvPicPr>
        <p:blipFill>
          <a:blip r:embed="rId2"/>
          <a:stretch>
            <a:fillRect/>
          </a:stretch>
        </p:blipFill>
        <p:spPr>
          <a:xfrm>
            <a:off x="6720840" y="1753791"/>
            <a:ext cx="4937760" cy="2893219"/>
          </a:xfrm>
          <a:prstGeom prst="rect">
            <a:avLst/>
          </a:prstGeom>
        </p:spPr>
      </p:pic>
      <p:sp>
        <p:nvSpPr>
          <p:cNvPr id="8" name="Shape 4"/>
          <p:cNvSpPr/>
          <p:nvPr/>
        </p:nvSpPr>
        <p:spPr>
          <a:xfrm>
            <a:off x="548640" y="3703320"/>
            <a:ext cx="420624" cy="420624"/>
          </a:xfrm>
          <a:prstGeom prst="ellipse">
            <a:avLst/>
          </a:prstGeom>
          <a:solidFill>
            <a:srgbClr val="0F2748"/>
          </a:solidFill>
          <a:ln w="12700">
            <a:solidFill>
              <a:srgbClr val="0F2748"/>
            </a:solidFill>
            <a:prstDash val="solid"/>
          </a:ln>
        </p:spPr>
      </p:sp>
      <p:pic>
        <p:nvPicPr>
          <p:cNvPr id="9" name="Image 2" descr="preencoded.png">    </p:cNvPr>
          <p:cNvPicPr>
            <a:picLocks noChangeAspect="1"/>
          </p:cNvPicPr>
          <p:nvPr/>
        </p:nvPicPr>
        <p:blipFill>
          <a:blip r:embed="rId3"/>
          <a:stretch>
            <a:fillRect/>
          </a:stretch>
        </p:blipFill>
        <p:spPr>
          <a:xfrm>
            <a:off x="649590" y="3804270"/>
            <a:ext cx="218724" cy="218724"/>
          </a:xfrm>
          <a:prstGeom prst="rect">
            <a:avLst/>
          </a:prstGeom>
        </p:spPr>
      </p:pic>
      <p:sp>
        <p:nvSpPr>
          <p:cNvPr id="10" name="Text 5"/>
          <p:cNvSpPr txBox="1"/>
          <p:nvPr/>
        </p:nvSpPr>
        <p:spPr>
          <a:xfrm>
            <a:off x="1097280" y="3666744"/>
            <a:ext cx="5303520" cy="274320"/>
          </a:xfrm>
          <a:prstGeom prst="rect">
            <a:avLst/>
          </a:prstGeom>
          <a:noFill/>
          <a:ln/>
        </p:spPr>
        <p:txBody>
          <a:bodyPr wrap="square" lIns="0" tIns="0" rIns="0" bIns="0" rtlCol="0" anchor="ctr"/>
          <a:lstStyle/>
          <a:p>
            <a:pPr indent="0" marL="0">
              <a:buNone/>
            </a:pPr>
            <a:r>
              <a:rPr lang="en-US" sz="1350" b="1" dirty="0">
                <a:solidFill>
                  <a:srgbClr val="0F2748"/>
                </a:solidFill>
                <a:latin typeface="Calibri" pitchFamily="34" charset="0"/>
                <a:ea typeface="Calibri" pitchFamily="34" charset="-122"/>
                <a:cs typeface="Calibri" pitchFamily="34" charset="-120"/>
              </a:rPr>
              <a:t>Archive has 2012 — BIS lists 2026</a:t>
            </a:r>
            <a:endParaRPr lang="en-US" sz="1350" dirty="0"/>
          </a:p>
        </p:txBody>
      </p:sp>
      <p:sp>
        <p:nvSpPr>
          <p:cNvPr id="11" name="Text 6"/>
          <p:cNvSpPr txBox="1"/>
          <p:nvPr/>
        </p:nvSpPr>
        <p:spPr>
          <a:xfrm>
            <a:off x="1097280" y="3941064"/>
            <a:ext cx="5303520" cy="3200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flagged in every answer; the clause is drafted for the 2026 edition</a:t>
            </a:r>
            <a:endParaRPr lang="en-US" sz="1150" dirty="0"/>
          </a:p>
        </p:txBody>
      </p:sp>
      <p:sp>
        <p:nvSpPr>
          <p:cNvPr id="12" name="Shape 7"/>
          <p:cNvSpPr/>
          <p:nvPr/>
        </p:nvSpPr>
        <p:spPr>
          <a:xfrm>
            <a:off x="548640" y="4361688"/>
            <a:ext cx="420624" cy="420624"/>
          </a:xfrm>
          <a:prstGeom prst="ellipse">
            <a:avLst/>
          </a:prstGeom>
          <a:solidFill>
            <a:srgbClr val="0F2748"/>
          </a:solidFill>
          <a:ln w="12700">
            <a:solidFill>
              <a:srgbClr val="0F2748"/>
            </a:solidFill>
            <a:prstDash val="solid"/>
          </a:ln>
        </p:spPr>
      </p:sp>
      <p:pic>
        <p:nvPicPr>
          <p:cNvPr id="13" name="Image 3" descr="preencoded.png">    </p:cNvPr>
          <p:cNvPicPr>
            <a:picLocks noChangeAspect="1"/>
          </p:cNvPicPr>
          <p:nvPr/>
        </p:nvPicPr>
        <p:blipFill>
          <a:blip r:embed="rId4"/>
          <a:stretch>
            <a:fillRect/>
          </a:stretch>
        </p:blipFill>
        <p:spPr>
          <a:xfrm>
            <a:off x="649590" y="4462638"/>
            <a:ext cx="218724" cy="218724"/>
          </a:xfrm>
          <a:prstGeom prst="rect">
            <a:avLst/>
          </a:prstGeom>
        </p:spPr>
      </p:pic>
      <p:sp>
        <p:nvSpPr>
          <p:cNvPr id="14" name="Text 8"/>
          <p:cNvSpPr txBox="1"/>
          <p:nvPr/>
        </p:nvSpPr>
        <p:spPr>
          <a:xfrm>
            <a:off x="1097280" y="4325112"/>
            <a:ext cx="5303520" cy="274320"/>
          </a:xfrm>
          <a:prstGeom prst="rect">
            <a:avLst/>
          </a:prstGeom>
          <a:noFill/>
          <a:ln/>
        </p:spPr>
        <p:txBody>
          <a:bodyPr wrap="square" lIns="0" tIns="0" rIns="0" bIns="0" rtlCol="0" anchor="ctr"/>
          <a:lstStyle/>
          <a:p>
            <a:pPr indent="0" marL="0">
              <a:buNone/>
            </a:pPr>
            <a:r>
              <a:rPr lang="en-US" sz="1350" b="1" dirty="0">
                <a:solidFill>
                  <a:srgbClr val="0F2748"/>
                </a:solidFill>
                <a:latin typeface="Calibri" pitchFamily="34" charset="0"/>
                <a:ea typeface="Calibri" pitchFamily="34" charset="-122"/>
                <a:cs typeface="Calibri" pitchFamily="34" charset="-120"/>
              </a:rPr>
              <a:t>Withdrawn? Redrafted for the replacement</a:t>
            </a:r>
            <a:endParaRPr lang="en-US" sz="1350" dirty="0"/>
          </a:p>
        </p:txBody>
      </p:sp>
      <p:sp>
        <p:nvSpPr>
          <p:cNvPr id="15" name="Text 9"/>
          <p:cNvSpPr txBox="1"/>
          <p:nvPr/>
        </p:nvSpPr>
        <p:spPr>
          <a:xfrm>
            <a:off x="1097280" y="4599432"/>
            <a:ext cx="5303520" cy="3200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IS 13849 → IS 15683 · IS 8112 → IS 269:2015 · IS 13947 → IS/IEC 60947</a:t>
            </a:r>
            <a:endParaRPr lang="en-US" sz="1150" dirty="0"/>
          </a:p>
        </p:txBody>
      </p:sp>
      <p:sp>
        <p:nvSpPr>
          <p:cNvPr id="16" name="Shape 10"/>
          <p:cNvSpPr/>
          <p:nvPr/>
        </p:nvSpPr>
        <p:spPr>
          <a:xfrm>
            <a:off x="548640" y="5020056"/>
            <a:ext cx="420624" cy="420624"/>
          </a:xfrm>
          <a:prstGeom prst="ellipse">
            <a:avLst/>
          </a:prstGeom>
          <a:solidFill>
            <a:srgbClr val="0F2748"/>
          </a:solidFill>
          <a:ln w="12700">
            <a:solidFill>
              <a:srgbClr val="0F2748"/>
            </a:solidFill>
            <a:prstDash val="solid"/>
          </a:ln>
        </p:spPr>
      </p:sp>
      <p:pic>
        <p:nvPicPr>
          <p:cNvPr id="17" name="Image 4" descr="preencoded.png">    </p:cNvPr>
          <p:cNvPicPr>
            <a:picLocks noChangeAspect="1"/>
          </p:cNvPicPr>
          <p:nvPr/>
        </p:nvPicPr>
        <p:blipFill>
          <a:blip r:embed="rId5"/>
          <a:stretch>
            <a:fillRect/>
          </a:stretch>
        </p:blipFill>
        <p:spPr>
          <a:xfrm>
            <a:off x="649590" y="5121006"/>
            <a:ext cx="218724" cy="218724"/>
          </a:xfrm>
          <a:prstGeom prst="rect">
            <a:avLst/>
          </a:prstGeom>
        </p:spPr>
      </p:pic>
      <p:sp>
        <p:nvSpPr>
          <p:cNvPr id="18" name="Text 11"/>
          <p:cNvSpPr txBox="1"/>
          <p:nvPr/>
        </p:nvSpPr>
        <p:spPr>
          <a:xfrm>
            <a:off x="1097280" y="4983480"/>
            <a:ext cx="5303520" cy="274320"/>
          </a:xfrm>
          <a:prstGeom prst="rect">
            <a:avLst/>
          </a:prstGeom>
          <a:noFill/>
          <a:ln/>
        </p:spPr>
        <p:txBody>
          <a:bodyPr wrap="square" lIns="0" tIns="0" rIns="0" bIns="0" rtlCol="0" anchor="ctr"/>
          <a:lstStyle/>
          <a:p>
            <a:pPr indent="0" marL="0">
              <a:buNone/>
            </a:pPr>
            <a:r>
              <a:rPr lang="en-US" sz="1350" b="1" dirty="0">
                <a:solidFill>
                  <a:srgbClr val="0F2748"/>
                </a:solidFill>
                <a:latin typeface="Calibri" pitchFamily="34" charset="0"/>
                <a:ea typeface="Calibri" pitchFamily="34" charset="-122"/>
                <a:cs typeface="Calibri" pitchFamily="34" charset="-120"/>
              </a:rPr>
              <a:t>Certification written in</a:t>
            </a:r>
            <a:endParaRPr lang="en-US" sz="1350" dirty="0"/>
          </a:p>
        </p:txBody>
      </p:sp>
      <p:sp>
        <p:nvSpPr>
          <p:cNvPr id="19" name="Text 12"/>
          <p:cNvSpPr txBox="1"/>
          <p:nvPr/>
        </p:nvSpPr>
        <p:spPr>
          <a:xfrm>
            <a:off x="1097280" y="5257800"/>
            <a:ext cx="5303520" cy="3200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CRS registration (R-number) under the 2021 order — ISI licence (CM/L) for Scheme-I</a:t>
            </a:r>
            <a:endParaRPr lang="en-US" sz="1150" dirty="0"/>
          </a:p>
        </p:txBody>
      </p:sp>
      <p:sp>
        <p:nvSpPr>
          <p:cNvPr id="20" name="Shape 13"/>
          <p:cNvSpPr/>
          <p:nvPr/>
        </p:nvSpPr>
        <p:spPr>
          <a:xfrm>
            <a:off x="548640" y="5678424"/>
            <a:ext cx="420624" cy="420624"/>
          </a:xfrm>
          <a:prstGeom prst="ellipse">
            <a:avLst/>
          </a:prstGeom>
          <a:solidFill>
            <a:srgbClr val="0F2748"/>
          </a:solidFill>
          <a:ln w="12700">
            <a:solidFill>
              <a:srgbClr val="0F2748"/>
            </a:solidFill>
            <a:prstDash val="solid"/>
          </a:ln>
        </p:spPr>
      </p:sp>
      <p:pic>
        <p:nvPicPr>
          <p:cNvPr id="21" name="Image 5" descr="preencoded.png">    </p:cNvPr>
          <p:cNvPicPr>
            <a:picLocks noChangeAspect="1"/>
          </p:cNvPicPr>
          <p:nvPr/>
        </p:nvPicPr>
        <p:blipFill>
          <a:blip r:embed="rId6"/>
          <a:stretch>
            <a:fillRect/>
          </a:stretch>
        </p:blipFill>
        <p:spPr>
          <a:xfrm>
            <a:off x="649590" y="5779374"/>
            <a:ext cx="218724" cy="218724"/>
          </a:xfrm>
          <a:prstGeom prst="rect">
            <a:avLst/>
          </a:prstGeom>
        </p:spPr>
      </p:pic>
      <p:sp>
        <p:nvSpPr>
          <p:cNvPr id="22" name="Text 14"/>
          <p:cNvSpPr txBox="1"/>
          <p:nvPr/>
        </p:nvSpPr>
        <p:spPr>
          <a:xfrm>
            <a:off x="1097280" y="5641848"/>
            <a:ext cx="5303520" cy="274320"/>
          </a:xfrm>
          <a:prstGeom prst="rect">
            <a:avLst/>
          </a:prstGeom>
          <a:noFill/>
          <a:ln/>
        </p:spPr>
        <p:txBody>
          <a:bodyPr wrap="square" lIns="0" tIns="0" rIns="0" bIns="0" rtlCol="0" anchor="ctr"/>
          <a:lstStyle/>
          <a:p>
            <a:pPr indent="0" marL="0">
              <a:buNone/>
            </a:pPr>
            <a:r>
              <a:rPr lang="en-US" sz="1350" b="1" dirty="0">
                <a:solidFill>
                  <a:srgbClr val="0F2748"/>
                </a:solidFill>
                <a:latin typeface="Calibri" pitchFamily="34" charset="0"/>
                <a:ea typeface="Calibri" pitchFamily="34" charset="-122"/>
                <a:cs typeface="Calibri" pitchFamily="34" charset="-120"/>
              </a:rPr>
              <a:t>Every sentence sourced</a:t>
            </a:r>
            <a:endParaRPr lang="en-US" sz="1350" dirty="0"/>
          </a:p>
        </p:txBody>
      </p:sp>
      <p:sp>
        <p:nvSpPr>
          <p:cNvPr id="23" name="Text 15"/>
          <p:cNvSpPr txBox="1"/>
          <p:nvPr/>
        </p:nvSpPr>
        <p:spPr>
          <a:xfrm>
            <a:off x="1097280" y="5916168"/>
            <a:ext cx="5303520" cy="32004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copy, read aloud, or collect several into one Word document</a:t>
            </a:r>
            <a:endParaRPr lang="en-US" sz="1150" dirty="0"/>
          </a:p>
        </p:txBody>
      </p:sp>
      <p:sp>
        <p:nvSpPr>
          <p:cNvPr id="24" name="Text 16"/>
          <p:cNvSpPr txBox="1"/>
          <p:nvPr/>
        </p:nvSpPr>
        <p:spPr>
          <a:xfrm>
            <a:off x="6720840" y="4983480"/>
            <a:ext cx="4937760" cy="8229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Exportable specification block: Standard · Referred standards · Tests &amp; acceptance · Mandatory certification · Marking &amp; packing · Terminology — with the BIS check date.</a:t>
            </a:r>
            <a:endParaRPr lang="en-US" sz="1200" dirty="0"/>
          </a:p>
        </p:txBody>
      </p:sp>
      <p:sp>
        <p:nvSpPr>
          <p:cNvPr id="25"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Inside GeM and CPPP — a browser extension</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Officers don’t change tools: SpecSure annotates the bid pages they already use</a:t>
            </a:r>
            <a:endParaRPr lang="en-US" sz="1600" dirty="0"/>
          </a:p>
        </p:txBody>
      </p:sp>
      <p:sp>
        <p:nvSpPr>
          <p:cNvPr id="4" name="Shape 2"/>
          <p:cNvSpPr/>
          <p:nvPr/>
        </p:nvSpPr>
        <p:spPr>
          <a:xfrm>
            <a:off x="475488" y="2110650"/>
            <a:ext cx="5266944" cy="3459659"/>
          </a:xfrm>
          <a:prstGeom prst="roundRect">
            <a:avLst>
              <a:gd name="adj" fmla="val 2114"/>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5" name="Image 0" descr="/tmp/claude-0/deck/img/ext_listing_top.png">    </p:cNvPr>
          <p:cNvPicPr>
            <a:picLocks noChangeAspect="1"/>
          </p:cNvPicPr>
          <p:nvPr/>
        </p:nvPicPr>
        <p:blipFill>
          <a:blip r:embed="rId1"/>
          <a:stretch>
            <a:fillRect/>
          </a:stretch>
        </p:blipFill>
        <p:spPr>
          <a:xfrm>
            <a:off x="548640" y="2183802"/>
            <a:ext cx="5120640" cy="3313355"/>
          </a:xfrm>
          <a:prstGeom prst="rect">
            <a:avLst/>
          </a:prstGeom>
        </p:spPr>
      </p:pic>
      <p:sp>
        <p:nvSpPr>
          <p:cNvPr id="6" name="Shape 3"/>
          <p:cNvSpPr/>
          <p:nvPr/>
        </p:nvSpPr>
        <p:spPr>
          <a:xfrm>
            <a:off x="5946648" y="1664208"/>
            <a:ext cx="2599944" cy="4352544"/>
          </a:xfrm>
          <a:prstGeom prst="roundRect">
            <a:avLst>
              <a:gd name="adj" fmla="val 2814"/>
            </a:avLst>
          </a:prstGeom>
          <a:solidFill>
            <a:srgbClr val="FFFFFF"/>
          </a:solidFill>
          <a:ln w="9525">
            <a:solidFill>
              <a:srgbClr val="D5DEEA"/>
            </a:solidFill>
            <a:prstDash val="solid"/>
          </a:ln>
          <a:effectLst>
            <a:outerShdw sx="100000" sy="100000" kx="0" ky="0" algn="bl" rotWithShape="0" blurRad="101600" dist="25400" dir="5400000">
              <a:srgbClr val="000000">
                <a:alpha val="18000"/>
              </a:srgbClr>
            </a:outerShdw>
          </a:effectLst>
        </p:spPr>
      </p:sp>
      <p:pic>
        <p:nvPicPr>
          <p:cNvPr id="7" name="Image 1" descr="/tmp/claude-0/deck/img/ext_panel_top.png">    </p:cNvPr>
          <p:cNvPicPr>
            <a:picLocks noChangeAspect="1"/>
          </p:cNvPicPr>
          <p:nvPr/>
        </p:nvPicPr>
        <p:blipFill>
          <a:blip r:embed="rId2"/>
          <a:stretch>
            <a:fillRect/>
          </a:stretch>
        </p:blipFill>
        <p:spPr>
          <a:xfrm>
            <a:off x="6019800" y="1737360"/>
            <a:ext cx="2453640" cy="4206240"/>
          </a:xfrm>
          <a:prstGeom prst="rect">
            <a:avLst/>
          </a:prstGeom>
        </p:spPr>
      </p:pic>
      <p:sp>
        <p:nvSpPr>
          <p:cNvPr id="8" name="Shape 4"/>
          <p:cNvSpPr/>
          <p:nvPr/>
        </p:nvSpPr>
        <p:spPr>
          <a:xfrm>
            <a:off x="8915400" y="1828800"/>
            <a:ext cx="502920" cy="502920"/>
          </a:xfrm>
          <a:prstGeom prst="ellipse">
            <a:avLst/>
          </a:prstGeom>
          <a:solidFill>
            <a:srgbClr val="0F2748"/>
          </a:solidFill>
          <a:ln w="12700">
            <a:solidFill>
              <a:srgbClr val="0F2748"/>
            </a:solidFill>
            <a:prstDash val="solid"/>
          </a:ln>
        </p:spPr>
      </p:sp>
      <p:pic>
        <p:nvPicPr>
          <p:cNvPr id="9" name="Image 2" descr="preencoded.png">    </p:cNvPr>
          <p:cNvPicPr>
            <a:picLocks noChangeAspect="1"/>
          </p:cNvPicPr>
          <p:nvPr/>
        </p:nvPicPr>
        <p:blipFill>
          <a:blip r:embed="rId3"/>
          <a:stretch>
            <a:fillRect/>
          </a:stretch>
        </p:blipFill>
        <p:spPr>
          <a:xfrm>
            <a:off x="9036101" y="1949501"/>
            <a:ext cx="261518" cy="261518"/>
          </a:xfrm>
          <a:prstGeom prst="rect">
            <a:avLst/>
          </a:prstGeom>
        </p:spPr>
      </p:pic>
      <p:sp>
        <p:nvSpPr>
          <p:cNvPr id="10" name="Text 5"/>
          <p:cNvSpPr txBox="1"/>
          <p:nvPr/>
        </p:nvSpPr>
        <p:spPr>
          <a:xfrm>
            <a:off x="9601200" y="1810512"/>
            <a:ext cx="2103120" cy="310896"/>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On every bid</a:t>
            </a:r>
            <a:endParaRPr lang="en-US" sz="1500" dirty="0"/>
          </a:p>
        </p:txBody>
      </p:sp>
      <p:sp>
        <p:nvSpPr>
          <p:cNvPr id="11" name="Text 6"/>
          <p:cNvSpPr txBox="1"/>
          <p:nvPr/>
        </p:nvSpPr>
        <p:spPr>
          <a:xfrm>
            <a:off x="9601200" y="2139696"/>
            <a:ext cx="2103120" cy="91440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named standard · edition in force · amendments · ISI / CRS — or a suggestion, or “no confident match”</a:t>
            </a:r>
            <a:endParaRPr lang="en-US" sz="1150" dirty="0"/>
          </a:p>
        </p:txBody>
      </p:sp>
      <p:sp>
        <p:nvSpPr>
          <p:cNvPr id="12" name="Shape 7"/>
          <p:cNvSpPr/>
          <p:nvPr/>
        </p:nvSpPr>
        <p:spPr>
          <a:xfrm>
            <a:off x="8915400" y="3200400"/>
            <a:ext cx="502920" cy="502920"/>
          </a:xfrm>
          <a:prstGeom prst="ellipse">
            <a:avLst/>
          </a:prstGeom>
          <a:solidFill>
            <a:srgbClr val="0F2748"/>
          </a:solidFill>
          <a:ln w="12700">
            <a:solidFill>
              <a:srgbClr val="0F2748"/>
            </a:solidFill>
            <a:prstDash val="solid"/>
          </a:ln>
        </p:spPr>
      </p:sp>
      <p:pic>
        <p:nvPicPr>
          <p:cNvPr id="13" name="Image 3" descr="preencoded.png">    </p:cNvPr>
          <p:cNvPicPr>
            <a:picLocks noChangeAspect="1"/>
          </p:cNvPicPr>
          <p:nvPr/>
        </p:nvPicPr>
        <p:blipFill>
          <a:blip r:embed="rId4"/>
          <a:stretch>
            <a:fillRect/>
          </a:stretch>
        </p:blipFill>
        <p:spPr>
          <a:xfrm>
            <a:off x="9036101" y="3321101"/>
            <a:ext cx="261518" cy="261518"/>
          </a:xfrm>
          <a:prstGeom prst="rect">
            <a:avLst/>
          </a:prstGeom>
        </p:spPr>
      </p:pic>
      <p:sp>
        <p:nvSpPr>
          <p:cNvPr id="14" name="Text 8"/>
          <p:cNvSpPr txBox="1"/>
          <p:nvPr/>
        </p:nvSpPr>
        <p:spPr>
          <a:xfrm>
            <a:off x="9601200" y="3182112"/>
            <a:ext cx="2103120" cy="310896"/>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On a bid PDF</a:t>
            </a:r>
            <a:endParaRPr lang="en-US" sz="1500" dirty="0"/>
          </a:p>
        </p:txBody>
      </p:sp>
      <p:sp>
        <p:nvSpPr>
          <p:cNvPr id="15" name="Text 9"/>
          <p:cNvSpPr txBox="1"/>
          <p:nvPr/>
        </p:nvSpPr>
        <p:spPr>
          <a:xfrm>
            <a:off x="9601200" y="3511296"/>
            <a:ext cx="2103120" cy="91440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items bought, cited standards checked, forgotten test methods, copy-ready clause</a:t>
            </a:r>
            <a:endParaRPr lang="en-US" sz="1150" dirty="0"/>
          </a:p>
        </p:txBody>
      </p:sp>
      <p:sp>
        <p:nvSpPr>
          <p:cNvPr id="16" name="Shape 10"/>
          <p:cNvSpPr/>
          <p:nvPr/>
        </p:nvSpPr>
        <p:spPr>
          <a:xfrm>
            <a:off x="8915400" y="4572000"/>
            <a:ext cx="502920" cy="502920"/>
          </a:xfrm>
          <a:prstGeom prst="ellipse">
            <a:avLst/>
          </a:prstGeom>
          <a:solidFill>
            <a:srgbClr val="0F2748"/>
          </a:solidFill>
          <a:ln w="12700">
            <a:solidFill>
              <a:srgbClr val="0F2748"/>
            </a:solidFill>
            <a:prstDash val="solid"/>
          </a:ln>
        </p:spPr>
      </p:sp>
      <p:pic>
        <p:nvPicPr>
          <p:cNvPr id="17" name="Image 4" descr="preencoded.png">    </p:cNvPr>
          <p:cNvPicPr>
            <a:picLocks noChangeAspect="1"/>
          </p:cNvPicPr>
          <p:nvPr/>
        </p:nvPicPr>
        <p:blipFill>
          <a:blip r:embed="rId5"/>
          <a:stretch>
            <a:fillRect/>
          </a:stretch>
        </p:blipFill>
        <p:spPr>
          <a:xfrm>
            <a:off x="9036101" y="4692701"/>
            <a:ext cx="261518" cy="261518"/>
          </a:xfrm>
          <a:prstGeom prst="rect">
            <a:avLst/>
          </a:prstGeom>
        </p:spPr>
      </p:pic>
      <p:sp>
        <p:nvSpPr>
          <p:cNvPr id="18" name="Text 11"/>
          <p:cNvSpPr txBox="1"/>
          <p:nvPr/>
        </p:nvSpPr>
        <p:spPr>
          <a:xfrm>
            <a:off x="9601200" y="4553712"/>
            <a:ext cx="2103120" cy="310896"/>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Anywhere</a:t>
            </a:r>
            <a:endParaRPr lang="en-US" sz="1500" dirty="0"/>
          </a:p>
        </p:txBody>
      </p:sp>
      <p:sp>
        <p:nvSpPr>
          <p:cNvPr id="19" name="Text 12"/>
          <p:cNvSpPr txBox="1"/>
          <p:nvPr/>
        </p:nvSpPr>
        <p:spPr>
          <a:xfrm>
            <a:off x="9601200" y="4882896"/>
            <a:ext cx="2103120" cy="914400"/>
          </a:xfrm>
          <a:prstGeom prst="rect">
            <a:avLst/>
          </a:prstGeom>
          <a:noFill/>
          <a:ln/>
        </p:spPr>
        <p:txBody>
          <a:bodyPr wrap="square" lIns="0" tIns="0" rIns="0" bIns="0" rtlCol="0" anchor="ctr"/>
          <a:lstStyle/>
          <a:p>
            <a:pPr indent="0" marL="0">
              <a:buNone/>
            </a:pPr>
            <a:r>
              <a:rPr lang="en-US" sz="1150" dirty="0">
                <a:solidFill>
                  <a:srgbClr val="5B6B80"/>
                </a:solidFill>
                <a:latin typeface="Calibri" pitchFamily="34" charset="0"/>
                <a:ea typeface="Calibri" pitchFamily="34" charset="-122"/>
                <a:cs typeface="Calibri" pitchFamily="34" charset="-120"/>
              </a:rPr>
              <a:t>select text on any page → “Find Indian Standards”; the side panel stays open while drafting</a:t>
            </a:r>
            <a:endParaRPr lang="en-US" sz="1150" dirty="0"/>
          </a:p>
        </p:txBody>
      </p:sp>
      <p:sp>
        <p:nvSpPr>
          <p:cNvPr id="20" name="Text 13"/>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150" i="1" dirty="0">
                <a:solidFill>
                  <a:srgbClr val="5B6B80"/>
                </a:solidFill>
                <a:latin typeface="Calibri" pitchFamily="34" charset="0"/>
                <a:ea typeface="Calibri" pitchFamily="34" charset="-122"/>
                <a:cs typeface="Calibri" pitchFamily="34" charset="-120"/>
              </a:rPr>
              <a:t>Real GeM category names, 27 Sep 2026 — road-lighting luminaires now need the 2026 edition of IS 10322 (Part 5/Sec 3).</a:t>
            </a:r>
            <a:endParaRPr lang="en-US" sz="1150" dirty="0"/>
          </a:p>
        </p:txBody>
      </p:sp>
      <p:sp>
        <p:nvSpPr>
          <p:cNvPr id="21" name="Text 14"/>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Measured, not claimed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Clean benchmarks — every product-name shortcut switched off; scripts in the repository</a:t>
            </a:r>
            <a:endParaRPr lang="en-US" sz="1600" dirty="0"/>
          </a:p>
        </p:txBody>
      </p:sp>
      <p:graphicFrame>
        <p:nvGraphicFramePr>
          <p:cNvPr id="4" name="Chart 0" descr=""/>
          <p:cNvGraphicFramePr/>
          <p:nvPr/>
        </p:nvGraphicFramePr>
        <p:xfrm>
          <a:off x="548640" y="1645920"/>
          <a:ext cx="704088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691640"/>
            <a:ext cx="3703320" cy="1298448"/>
          </a:xfrm>
          <a:prstGeom prst="roundRect">
            <a:avLst>
              <a:gd name="adj" fmla="val 5634"/>
            </a:avLst>
          </a:prstGeom>
          <a:solidFill>
            <a:srgbClr val="F6F8FB"/>
          </a:solidFill>
          <a:ln w="9525">
            <a:solidFill>
              <a:srgbClr val="D5DEEA"/>
            </a:solidFill>
            <a:prstDash val="solid"/>
          </a:ln>
        </p:spPr>
      </p:sp>
      <p:sp>
        <p:nvSpPr>
          <p:cNvPr id="6" name="Text 3"/>
          <p:cNvSpPr txBox="1"/>
          <p:nvPr/>
        </p:nvSpPr>
        <p:spPr>
          <a:xfrm>
            <a:off x="8138160" y="1801368"/>
            <a:ext cx="3383280" cy="594360"/>
          </a:xfrm>
          <a:prstGeom prst="rect">
            <a:avLst/>
          </a:prstGeom>
          <a:noFill/>
          <a:ln/>
        </p:spPr>
        <p:txBody>
          <a:bodyPr wrap="square" lIns="0" tIns="0" rIns="0" bIns="0" rtlCol="0" anchor="ctr"/>
          <a:lstStyle/>
          <a:p>
            <a:pPr indent="0" marL="0">
              <a:buNone/>
            </a:pPr>
            <a:r>
              <a:rPr lang="en-US" sz="3000" b="1" dirty="0">
                <a:solidFill>
                  <a:srgbClr val="138808"/>
                </a:solidFill>
                <a:latin typeface="Cambria" pitchFamily="34" charset="0"/>
                <a:ea typeface="Cambria" pitchFamily="34" charset="-122"/>
                <a:cs typeface="Cambria" pitchFamily="34" charset="-120"/>
              </a:rPr>
              <a:t>89.6 %</a:t>
            </a:r>
            <a:endParaRPr lang="en-US" sz="3000" dirty="0"/>
          </a:p>
        </p:txBody>
      </p:sp>
      <p:sp>
        <p:nvSpPr>
          <p:cNvPr id="7" name="Text 4"/>
          <p:cNvSpPr txBox="1"/>
          <p:nvPr/>
        </p:nvSpPr>
        <p:spPr>
          <a:xfrm>
            <a:off x="8138160" y="2404872"/>
            <a:ext cx="33832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precision when SpecSure says “Recommended” (GeM names)</a:t>
            </a:r>
            <a:endParaRPr lang="en-US" sz="1200" dirty="0"/>
          </a:p>
        </p:txBody>
      </p:sp>
      <p:sp>
        <p:nvSpPr>
          <p:cNvPr id="8" name="Shape 5"/>
          <p:cNvSpPr/>
          <p:nvPr/>
        </p:nvSpPr>
        <p:spPr>
          <a:xfrm>
            <a:off x="7955280" y="3172968"/>
            <a:ext cx="3703320" cy="1298448"/>
          </a:xfrm>
          <a:prstGeom prst="roundRect">
            <a:avLst>
              <a:gd name="adj" fmla="val 5634"/>
            </a:avLst>
          </a:prstGeom>
          <a:solidFill>
            <a:srgbClr val="F6F8FB"/>
          </a:solidFill>
          <a:ln w="9525">
            <a:solidFill>
              <a:srgbClr val="D5DEEA"/>
            </a:solidFill>
            <a:prstDash val="solid"/>
          </a:ln>
        </p:spPr>
      </p:sp>
      <p:sp>
        <p:nvSpPr>
          <p:cNvPr id="9" name="Text 6"/>
          <p:cNvSpPr txBox="1"/>
          <p:nvPr/>
        </p:nvSpPr>
        <p:spPr>
          <a:xfrm>
            <a:off x="8138160" y="3282696"/>
            <a:ext cx="3383280" cy="594360"/>
          </a:xfrm>
          <a:prstGeom prst="rect">
            <a:avLst/>
          </a:prstGeom>
          <a:noFill/>
          <a:ln/>
        </p:spPr>
        <p:txBody>
          <a:bodyPr wrap="square" lIns="0" tIns="0" rIns="0" bIns="0" rtlCol="0" anchor="ctr"/>
          <a:lstStyle/>
          <a:p>
            <a:pPr indent="0" marL="0">
              <a:buNone/>
            </a:pPr>
            <a:r>
              <a:rPr lang="en-US" sz="3000" b="1" dirty="0">
                <a:solidFill>
                  <a:srgbClr val="1D4F93"/>
                </a:solidFill>
                <a:latin typeface="Cambria" pitchFamily="34" charset="0"/>
                <a:ea typeface="Cambria" pitchFamily="34" charset="-122"/>
                <a:cs typeface="Cambria" pitchFamily="34" charset="-120"/>
              </a:rPr>
              <a:t>91.4 %</a:t>
            </a:r>
            <a:endParaRPr lang="en-US" sz="3000" dirty="0"/>
          </a:p>
        </p:txBody>
      </p:sp>
      <p:sp>
        <p:nvSpPr>
          <p:cNvPr id="10" name="Text 7"/>
          <p:cNvSpPr txBox="1"/>
          <p:nvPr/>
        </p:nvSpPr>
        <p:spPr>
          <a:xfrm>
            <a:off x="8138160" y="3886200"/>
            <a:ext cx="33832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of vague or services requests get no recommendation</a:t>
            </a:r>
            <a:endParaRPr lang="en-US" sz="1200" dirty="0"/>
          </a:p>
        </p:txBody>
      </p:sp>
      <p:sp>
        <p:nvSpPr>
          <p:cNvPr id="11" name="Shape 8"/>
          <p:cNvSpPr/>
          <p:nvPr/>
        </p:nvSpPr>
        <p:spPr>
          <a:xfrm>
            <a:off x="7955280" y="4654296"/>
            <a:ext cx="3703320" cy="1298448"/>
          </a:xfrm>
          <a:prstGeom prst="roundRect">
            <a:avLst>
              <a:gd name="adj" fmla="val 5634"/>
            </a:avLst>
          </a:prstGeom>
          <a:solidFill>
            <a:srgbClr val="F6F8FB"/>
          </a:solidFill>
          <a:ln w="9525">
            <a:solidFill>
              <a:srgbClr val="D5DEEA"/>
            </a:solidFill>
            <a:prstDash val="solid"/>
          </a:ln>
        </p:spPr>
      </p:sp>
      <p:sp>
        <p:nvSpPr>
          <p:cNvPr id="12" name="Text 9"/>
          <p:cNvSpPr txBox="1"/>
          <p:nvPr/>
        </p:nvSpPr>
        <p:spPr>
          <a:xfrm>
            <a:off x="8138160" y="4764024"/>
            <a:ext cx="3383280" cy="594360"/>
          </a:xfrm>
          <a:prstGeom prst="rect">
            <a:avLst/>
          </a:prstGeom>
          <a:noFill/>
          <a:ln/>
        </p:spPr>
        <p:txBody>
          <a:bodyPr wrap="square" lIns="0" tIns="0" rIns="0" bIns="0" rtlCol="0" anchor="ctr"/>
          <a:lstStyle/>
          <a:p>
            <a:pPr indent="0" marL="0">
              <a:buNone/>
            </a:pPr>
            <a:r>
              <a:rPr lang="en-US" sz="3000" b="1" dirty="0">
                <a:solidFill>
                  <a:srgbClr val="B42318"/>
                </a:solidFill>
                <a:latin typeface="Cambria" pitchFamily="34" charset="0"/>
                <a:ea typeface="Cambria" pitchFamily="34" charset="-122"/>
                <a:cs typeface="Cambria" pitchFamily="34" charset="-120"/>
              </a:rPr>
              <a:t>8.4 %</a:t>
            </a:r>
            <a:endParaRPr lang="en-US" sz="3000" dirty="0"/>
          </a:p>
        </p:txBody>
      </p:sp>
      <p:sp>
        <p:nvSpPr>
          <p:cNvPr id="13" name="Text 10"/>
          <p:cNvSpPr txBox="1"/>
          <p:nvPr/>
        </p:nvSpPr>
        <p:spPr>
          <a:xfrm>
            <a:off x="8138160" y="5367528"/>
            <a:ext cx="3383280" cy="5029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confident but wrong — shown, not hidden</a:t>
            </a:r>
            <a:endParaRPr lang="en-US" sz="1200" dirty="0"/>
          </a:p>
        </p:txBody>
      </p:sp>
      <p:sp>
        <p:nvSpPr>
          <p:cNvPr id="14" name="Text 1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Tested on real procurement documents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63 public tenders and GeM bid documents · 1,542 pages · 489 items found</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914400"/>
        </p:xfrm>
        <a:graphic>
          <a:graphicData uri="http://schemas.openxmlformats.org/drawingml/2006/table">
            <a:tbl>
              <a:tblPr/>
              <a:tblGrid>
                <a:gridCol w="3291840"/>
                <a:gridCol w="1828800"/>
                <a:gridCol w="1828800"/>
              </a:tblGrid>
              <a:tr h="47548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Institutional tenders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GeM bid documents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Documents / pages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23 / 1,011</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40 / 531</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Cite no Indian Standard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12 of 23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13 of 40</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Cite older edition / withdrawn</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 / 3</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 / 0</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Items: named · recommended · possible · abstained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 · 33 · 129 · 228</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 · 12 · 11 · 34</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“Recommended” correct (spot-check)</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 of 21</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 of 12</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bl>
          </a:graphicData>
        </a:graphic>
      </p:graphicFrame>
      <p:sp>
        <p:nvSpPr>
          <p:cNvPr id="5" name="Text 2"/>
          <p:cNvSpPr txBox="1"/>
          <p:nvPr/>
        </p:nvSpPr>
        <p:spPr>
          <a:xfrm>
            <a:off x="548640" y="4800600"/>
            <a:ext cx="6949440" cy="640080"/>
          </a:xfrm>
          <a:prstGeom prst="rect">
            <a:avLst/>
          </a:prstGeom>
          <a:noFill/>
          <a:ln/>
        </p:spPr>
        <p:txBody>
          <a:bodyPr wrap="square" lIns="0" tIns="0" rIns="0" bIns="0" rtlCol="0" anchor="ctr"/>
          <a:lstStyle/>
          <a:p>
            <a:pPr indent="0" marL="0">
              <a:buNone/>
            </a:pPr>
            <a:r>
              <a:rPr lang="en-US" sz="1150" i="1" dirty="0">
                <a:solidFill>
                  <a:srgbClr val="5B6B80"/>
                </a:solidFill>
                <a:latin typeface="Calibri" pitchFamily="34" charset="0"/>
                <a:ea typeface="Calibri" pitchFamily="34" charset="-122"/>
                <a:cs typeface="Calibri" pitchFamily="34" charset="-120"/>
              </a:rPr>
              <a:t>Spot-check is AI-assisted and will be confirmed by the team. “Possible” items are leads (4 of 25 correct, 13 incl. partial) — the interface labels them “verify”.</a:t>
            </a:r>
            <a:endParaRPr lang="en-US" sz="1150" dirty="0"/>
          </a:p>
        </p:txBody>
      </p:sp>
      <p:sp>
        <p:nvSpPr>
          <p:cNvPr id="6" name="Shape 3"/>
          <p:cNvSpPr/>
          <p:nvPr/>
        </p:nvSpPr>
        <p:spPr>
          <a:xfrm>
            <a:off x="7863840" y="1737360"/>
            <a:ext cx="3794760" cy="1691640"/>
          </a:xfrm>
          <a:prstGeom prst="roundRect">
            <a:avLst>
              <a:gd name="adj" fmla="val 4324"/>
            </a:avLst>
          </a:prstGeom>
          <a:solidFill>
            <a:srgbClr val="E7F5E9"/>
          </a:solidFill>
          <a:ln w="9525">
            <a:solidFill>
              <a:srgbClr val="D5DEEA"/>
            </a:solidFill>
            <a:prstDash val="solid"/>
          </a:ln>
        </p:spPr>
      </p:sp>
      <p:sp>
        <p:nvSpPr>
          <p:cNvPr id="7" name="Text 4"/>
          <p:cNvSpPr txBox="1"/>
          <p:nvPr/>
        </p:nvSpPr>
        <p:spPr>
          <a:xfrm>
            <a:off x="8092440" y="1920240"/>
            <a:ext cx="3383280" cy="731520"/>
          </a:xfrm>
          <a:prstGeom prst="rect">
            <a:avLst/>
          </a:prstGeom>
          <a:noFill/>
          <a:ln/>
        </p:spPr>
        <p:txBody>
          <a:bodyPr wrap="square" lIns="0" tIns="0" rIns="0" bIns="0" rtlCol="0" anchor="ctr"/>
          <a:lstStyle/>
          <a:p>
            <a:pPr indent="0" marL="0">
              <a:buNone/>
            </a:pPr>
            <a:r>
              <a:rPr lang="en-US" sz="3400" b="1" dirty="0">
                <a:solidFill>
                  <a:srgbClr val="138808"/>
                </a:solidFill>
                <a:latin typeface="Cambria" pitchFamily="34" charset="0"/>
                <a:ea typeface="Cambria" pitchFamily="34" charset="-122"/>
                <a:cs typeface="Cambria" pitchFamily="34" charset="-120"/>
              </a:rPr>
              <a:t>~85 %</a:t>
            </a:r>
            <a:endParaRPr lang="en-US" sz="3400" dirty="0"/>
          </a:p>
        </p:txBody>
      </p:sp>
      <p:sp>
        <p:nvSpPr>
          <p:cNvPr id="8" name="Text 5"/>
          <p:cNvSpPr txBox="1"/>
          <p:nvPr/>
        </p:nvSpPr>
        <p:spPr>
          <a:xfrm>
            <a:off x="8092440" y="2651760"/>
            <a:ext cx="338328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of “Recommended” items were right on real documents</a:t>
            </a:r>
            <a:endParaRPr lang="en-US" sz="1300" dirty="0"/>
          </a:p>
        </p:txBody>
      </p:sp>
      <p:sp>
        <p:nvSpPr>
          <p:cNvPr id="9" name="Shape 6"/>
          <p:cNvSpPr/>
          <p:nvPr/>
        </p:nvSpPr>
        <p:spPr>
          <a:xfrm>
            <a:off x="7863840" y="3657600"/>
            <a:ext cx="3794760" cy="1691640"/>
          </a:xfrm>
          <a:prstGeom prst="roundRect">
            <a:avLst>
              <a:gd name="adj" fmla="val 4324"/>
            </a:avLst>
          </a:prstGeom>
          <a:solidFill>
            <a:srgbClr val="E8EEF7"/>
          </a:solidFill>
          <a:ln w="9525">
            <a:solidFill>
              <a:srgbClr val="D5DEEA"/>
            </a:solidFill>
            <a:prstDash val="solid"/>
          </a:ln>
        </p:spPr>
      </p:sp>
      <p:sp>
        <p:nvSpPr>
          <p:cNvPr id="10" name="Text 7"/>
          <p:cNvSpPr txBox="1"/>
          <p:nvPr/>
        </p:nvSpPr>
        <p:spPr>
          <a:xfrm>
            <a:off x="8092440" y="3840480"/>
            <a:ext cx="3383280" cy="731520"/>
          </a:xfrm>
          <a:prstGeom prst="rect">
            <a:avLst/>
          </a:prstGeom>
          <a:noFill/>
          <a:ln/>
        </p:spPr>
        <p:txBody>
          <a:bodyPr wrap="square" lIns="0" tIns="0" rIns="0" bIns="0" rtlCol="0" anchor="ctr"/>
          <a:lstStyle/>
          <a:p>
            <a:pPr indent="0" marL="0">
              <a:buNone/>
            </a:pPr>
            <a:r>
              <a:rPr lang="en-US" sz="3400" b="1" dirty="0">
                <a:solidFill>
                  <a:srgbClr val="1D4F93"/>
                </a:solidFill>
                <a:latin typeface="Cambria" pitchFamily="34" charset="0"/>
                <a:ea typeface="Cambria" pitchFamily="34" charset="-122"/>
                <a:cs typeface="Cambria" pitchFamily="34" charset="-120"/>
              </a:rPr>
              <a:t>262 of 489</a:t>
            </a:r>
            <a:endParaRPr lang="en-US" sz="3400" dirty="0"/>
          </a:p>
        </p:txBody>
      </p:sp>
      <p:sp>
        <p:nvSpPr>
          <p:cNvPr id="11" name="Text 8"/>
          <p:cNvSpPr txBox="1"/>
          <p:nvPr/>
        </p:nvSpPr>
        <p:spPr>
          <a:xfrm>
            <a:off x="8092440" y="4572000"/>
            <a:ext cx="338328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items abstained — medical, IT, services, custom parts: no guessing</a:t>
            </a:r>
            <a:endParaRPr lang="en-US" sz="13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Why SpecSure stands apart</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Compared with the typical approach in 28 public SIH26108 repositories we surveyed</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103120"/>
                <a:gridCol w="3931920"/>
                <a:gridCol w="5029200"/>
              </a:tblGrid>
              <a:tr h="47548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Typical prototype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5B6B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SpecSure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F2748"/>
                    </a:solidFill>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Knowledge base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3 – 2,500 standards, mostly typed by hand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29,875 standards, 19,492 texts parsed, all divisions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Relationships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a few curated edges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80,834 links with clause + sentence; compliance tree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Edition / status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“verify on the BIS portal”</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status for 29,710 from BIS; amendments; replacements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Certification</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a handful of flags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828 BIS rows with the QCO, written into the clause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Testing</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not addressed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482 BIS-recognised labs with charges (BIS LIMS)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Languages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English, or a paid LLM translator</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offline glossary + transliteration + bge-m3, measured</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Where it runs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a separate website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portal + GeM/CPPP extension + API + MCP, offline</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r h="475488">
                <a:tc>
                  <a:txBody>
                    <a:bodyPr/>
                    <a:lstStyle/>
                    <a:p>
                      <a:pPr indent="0" marL="0">
                        <a:buNone/>
                      </a:pPr>
                      <a:r>
                        <a:rPr lang="en-US" sz="1300" b="1" dirty="0">
                          <a:solidFill>
                            <a:srgbClr val="0F2748"/>
                          </a:solidFill>
                          <a:latin typeface="Calibri" pitchFamily="34" charset="0"/>
                          <a:ea typeface="Calibri" pitchFamily="34" charset="-122"/>
                          <a:cs typeface="Calibri" pitchFamily="34" charset="-120"/>
                        </a:rPr>
                        <a:t>Proof</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dirty="0">
                          <a:solidFill>
                            <a:srgbClr val="5B6B80"/>
                          </a:solidFill>
                          <a:latin typeface="Calibri" pitchFamily="34" charset="0"/>
                          <a:ea typeface="Calibri" pitchFamily="34" charset="-122"/>
                          <a:cs typeface="Calibri" pitchFamily="34" charset="-120"/>
                        </a:rPr>
                        <a:t>demo queries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GeM-labelled benchmark, 63 real documents, abstention metrics</a:t>
                      </a:r>
                      <a:endParaRPr lang="en-US" sz="1300" dirty="0">
                        <a:latin typeface="Calibri" charset="0"/>
                        <a:ea typeface="Calibri" charset="0"/>
                        <a:cs typeface="Calibri" charset="0"/>
                      </a:endParaRPr>
                    </a:p>
                  </a:txBody>
                  <a:tcPr marL="91440" marR="91440" marT="45720" marB="4572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tcPr>
                </a:tc>
              </a:tr>
            </a:tbl>
          </a:graphicData>
        </a:graphic>
      </p:graphicFrame>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64240" cy="731520"/>
          </a:xfrm>
          <a:prstGeom prst="rect">
            <a:avLst/>
          </a:prstGeom>
          <a:noFill/>
          <a:ln/>
        </p:spPr>
        <p:txBody>
          <a:bodyPr wrap="square" lIns="0" tIns="0" rIns="0" bIns="0" rtlCol="0" anchor="ctr"/>
          <a:lstStyle/>
          <a:p>
            <a:pPr indent="0" marL="0">
              <a:buNone/>
            </a:pPr>
            <a:r>
              <a:rPr lang="en-US" sz="3200" b="1" dirty="0">
                <a:solidFill>
                  <a:srgbClr val="0F2748"/>
                </a:solidFill>
                <a:latin typeface="Cambria" pitchFamily="34" charset="0"/>
                <a:ea typeface="Cambria" pitchFamily="34" charset="-122"/>
                <a:cs typeface="Cambria" pitchFamily="34" charset="-120"/>
              </a:rPr>
              <a:t>Ready to deploy — and honest about what is next</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dirty="0">
                <a:solidFill>
                  <a:srgbClr val="5B6B80"/>
                </a:solidFill>
                <a:latin typeface="Calibri" pitchFamily="34" charset="0"/>
                <a:ea typeface="Calibri" pitchFamily="34" charset="-122"/>
                <a:cs typeface="Calibri" pitchFamily="34" charset="-120"/>
              </a:rPr>
              <a:t>Built for government IT: offline, on-prem, auditable</a:t>
            </a:r>
            <a:endParaRPr lang="en-US" sz="1600" dirty="0"/>
          </a:p>
        </p:txBody>
      </p:sp>
      <p:sp>
        <p:nvSpPr>
          <p:cNvPr id="4" name="Shape 2"/>
          <p:cNvSpPr/>
          <p:nvPr/>
        </p:nvSpPr>
        <p:spPr>
          <a:xfrm>
            <a:off x="548640" y="1783080"/>
            <a:ext cx="530352" cy="530352"/>
          </a:xfrm>
          <a:prstGeom prst="ellipse">
            <a:avLst/>
          </a:prstGeom>
          <a:solidFill>
            <a:srgbClr val="0F2748"/>
          </a:solidFill>
          <a:ln w="12700">
            <a:solidFill>
              <a:srgbClr val="0F2748"/>
            </a:solidFill>
            <a:prstDash val="solid"/>
          </a:ln>
        </p:spPr>
      </p:sp>
      <p:pic>
        <p:nvPicPr>
          <p:cNvPr id="5" name="Image 0" descr="preencoded.png">    </p:cNvPr>
          <p:cNvPicPr>
            <a:picLocks noChangeAspect="1"/>
          </p:cNvPicPr>
          <p:nvPr/>
        </p:nvPicPr>
        <p:blipFill>
          <a:blip r:embed="rId1"/>
          <a:stretch>
            <a:fillRect/>
          </a:stretch>
        </p:blipFill>
        <p:spPr>
          <a:xfrm>
            <a:off x="675924" y="1910364"/>
            <a:ext cx="275783" cy="275783"/>
          </a:xfrm>
          <a:prstGeom prst="rect">
            <a:avLst/>
          </a:prstGeom>
        </p:spPr>
      </p:pic>
      <p:sp>
        <p:nvSpPr>
          <p:cNvPr id="6" name="Text 3"/>
          <p:cNvSpPr txBox="1"/>
          <p:nvPr/>
        </p:nvSpPr>
        <p:spPr>
          <a:xfrm>
            <a:off x="1280160" y="1764792"/>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On-prem &amp; offline</a:t>
            </a:r>
            <a:endParaRPr lang="en-US" sz="1500" dirty="0"/>
          </a:p>
        </p:txBody>
      </p:sp>
      <p:sp>
        <p:nvSpPr>
          <p:cNvPr id="7" name="Text 4"/>
          <p:cNvSpPr txBox="1"/>
          <p:nvPr/>
        </p:nvSpPr>
        <p:spPr>
          <a:xfrm>
            <a:off x="1280160" y="2112264"/>
            <a:ext cx="4754880" cy="6400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FastAPI + Next.js, Docker; bge-m3 on CPU (~270 ms/query), automatic fallback to a small model</a:t>
            </a:r>
            <a:endParaRPr lang="en-US" sz="1200" dirty="0"/>
          </a:p>
        </p:txBody>
      </p:sp>
      <p:sp>
        <p:nvSpPr>
          <p:cNvPr id="8" name="Shape 5"/>
          <p:cNvSpPr/>
          <p:nvPr/>
        </p:nvSpPr>
        <p:spPr>
          <a:xfrm>
            <a:off x="548640" y="2862072"/>
            <a:ext cx="530352" cy="530352"/>
          </a:xfrm>
          <a:prstGeom prst="ellipse">
            <a:avLst/>
          </a:prstGeom>
          <a:solidFill>
            <a:srgbClr val="0F2748"/>
          </a:solidFill>
          <a:ln w="12700">
            <a:solidFill>
              <a:srgbClr val="0F2748"/>
            </a:solidFill>
            <a:prstDash val="solid"/>
          </a:ln>
        </p:spPr>
      </p:sp>
      <p:pic>
        <p:nvPicPr>
          <p:cNvPr id="9" name="Image 1" descr="preencoded.png">    </p:cNvPr>
          <p:cNvPicPr>
            <a:picLocks noChangeAspect="1"/>
          </p:cNvPicPr>
          <p:nvPr/>
        </p:nvPicPr>
        <p:blipFill>
          <a:blip r:embed="rId2"/>
          <a:stretch>
            <a:fillRect/>
          </a:stretch>
        </p:blipFill>
        <p:spPr>
          <a:xfrm>
            <a:off x="675924" y="2989356"/>
            <a:ext cx="275783" cy="275783"/>
          </a:xfrm>
          <a:prstGeom prst="rect">
            <a:avLst/>
          </a:prstGeom>
        </p:spPr>
      </p:pic>
      <p:sp>
        <p:nvSpPr>
          <p:cNvPr id="10" name="Text 6"/>
          <p:cNvSpPr txBox="1"/>
          <p:nvPr/>
        </p:nvSpPr>
        <p:spPr>
          <a:xfrm>
            <a:off x="1280160" y="2843784"/>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Integrates</a:t>
            </a:r>
            <a:endParaRPr lang="en-US" sz="1500" dirty="0"/>
          </a:p>
        </p:txBody>
      </p:sp>
      <p:sp>
        <p:nvSpPr>
          <p:cNvPr id="11" name="Text 7"/>
          <p:cNvSpPr txBox="1"/>
          <p:nvPr/>
        </p:nvSpPr>
        <p:spPr>
          <a:xfrm>
            <a:off x="1280160" y="3191256"/>
            <a:ext cx="4754880" cy="6400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REST API, MCP server for AI assistants, browser extension; GeM / CPPP native integration next</a:t>
            </a:r>
            <a:endParaRPr lang="en-US" sz="1200" dirty="0"/>
          </a:p>
        </p:txBody>
      </p:sp>
      <p:sp>
        <p:nvSpPr>
          <p:cNvPr id="12" name="Shape 8"/>
          <p:cNvSpPr/>
          <p:nvPr/>
        </p:nvSpPr>
        <p:spPr>
          <a:xfrm>
            <a:off x="548640" y="3941064"/>
            <a:ext cx="530352" cy="530352"/>
          </a:xfrm>
          <a:prstGeom prst="ellipse">
            <a:avLst/>
          </a:prstGeom>
          <a:solidFill>
            <a:srgbClr val="0F2748"/>
          </a:solidFill>
          <a:ln w="12700">
            <a:solidFill>
              <a:srgbClr val="0F2748"/>
            </a:solidFill>
            <a:prstDash val="solid"/>
          </a:ln>
        </p:spPr>
      </p:sp>
      <p:pic>
        <p:nvPicPr>
          <p:cNvPr id="13" name="Image 2" descr="preencoded.png">    </p:cNvPr>
          <p:cNvPicPr>
            <a:picLocks noChangeAspect="1"/>
          </p:cNvPicPr>
          <p:nvPr/>
        </p:nvPicPr>
        <p:blipFill>
          <a:blip r:embed="rId3"/>
          <a:stretch>
            <a:fillRect/>
          </a:stretch>
        </p:blipFill>
        <p:spPr>
          <a:xfrm>
            <a:off x="675924" y="4068348"/>
            <a:ext cx="275783" cy="275783"/>
          </a:xfrm>
          <a:prstGeom prst="rect">
            <a:avLst/>
          </a:prstGeom>
        </p:spPr>
      </p:pic>
      <p:sp>
        <p:nvSpPr>
          <p:cNvPr id="14" name="Text 9"/>
          <p:cNvSpPr txBox="1"/>
          <p:nvPr/>
        </p:nvSpPr>
        <p:spPr>
          <a:xfrm>
            <a:off x="1280160" y="3922776"/>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Refreshable</a:t>
            </a:r>
            <a:endParaRPr lang="en-US" sz="1500" dirty="0"/>
          </a:p>
        </p:txBody>
      </p:sp>
      <p:sp>
        <p:nvSpPr>
          <p:cNvPr id="15" name="Text 10"/>
          <p:cNvSpPr txBox="1"/>
          <p:nvPr/>
        </p:nvSpPr>
        <p:spPr>
          <a:xfrm>
            <a:off x="1280160" y="4270248"/>
            <a:ext cx="4754880" cy="6400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one script per source (BIS catalogue, e-Sale portal, LIMS, GeM) — re-run to update, every answer dated</a:t>
            </a:r>
            <a:endParaRPr lang="en-US" sz="1200" dirty="0"/>
          </a:p>
        </p:txBody>
      </p:sp>
      <p:sp>
        <p:nvSpPr>
          <p:cNvPr id="16" name="Shape 11"/>
          <p:cNvSpPr/>
          <p:nvPr/>
        </p:nvSpPr>
        <p:spPr>
          <a:xfrm>
            <a:off x="548640" y="5020056"/>
            <a:ext cx="530352" cy="530352"/>
          </a:xfrm>
          <a:prstGeom prst="ellipse">
            <a:avLst/>
          </a:prstGeom>
          <a:solidFill>
            <a:srgbClr val="0F2748"/>
          </a:solidFill>
          <a:ln w="12700">
            <a:solidFill>
              <a:srgbClr val="0F2748"/>
            </a:solidFill>
            <a:prstDash val="solid"/>
          </a:ln>
        </p:spPr>
      </p:sp>
      <p:pic>
        <p:nvPicPr>
          <p:cNvPr id="17" name="Image 3" descr="preencoded.png">    </p:cNvPr>
          <p:cNvPicPr>
            <a:picLocks noChangeAspect="1"/>
          </p:cNvPicPr>
          <p:nvPr/>
        </p:nvPicPr>
        <p:blipFill>
          <a:blip r:embed="rId4"/>
          <a:stretch>
            <a:fillRect/>
          </a:stretch>
        </p:blipFill>
        <p:spPr>
          <a:xfrm>
            <a:off x="675924" y="5147340"/>
            <a:ext cx="275783" cy="275783"/>
          </a:xfrm>
          <a:prstGeom prst="rect">
            <a:avLst/>
          </a:prstGeom>
        </p:spPr>
      </p:pic>
      <p:sp>
        <p:nvSpPr>
          <p:cNvPr id="18" name="Text 12"/>
          <p:cNvSpPr txBox="1"/>
          <p:nvPr/>
        </p:nvSpPr>
        <p:spPr>
          <a:xfrm>
            <a:off x="1280160" y="5001768"/>
            <a:ext cx="4754880" cy="329184"/>
          </a:xfrm>
          <a:prstGeom prst="rect">
            <a:avLst/>
          </a:prstGeom>
          <a:noFill/>
          <a:ln/>
        </p:spPr>
        <p:txBody>
          <a:bodyPr wrap="square" lIns="0" tIns="0" rIns="0" bIns="0" rtlCol="0" anchor="ctr"/>
          <a:lstStyle/>
          <a:p>
            <a:pPr indent="0" marL="0">
              <a:buNone/>
            </a:pPr>
            <a:r>
              <a:rPr lang="en-US" sz="1500" b="1" dirty="0">
                <a:solidFill>
                  <a:srgbClr val="0F2748"/>
                </a:solidFill>
                <a:latin typeface="Calibri" pitchFamily="34" charset="0"/>
                <a:ea typeface="Calibri" pitchFamily="34" charset="-122"/>
                <a:cs typeface="Calibri" pitchFamily="34" charset="-120"/>
              </a:rPr>
              <a:t>Accountable</a:t>
            </a:r>
            <a:endParaRPr lang="en-US" sz="1500" dirty="0"/>
          </a:p>
        </p:txBody>
      </p:sp>
      <p:sp>
        <p:nvSpPr>
          <p:cNvPr id="19" name="Text 13"/>
          <p:cNvSpPr txBox="1"/>
          <p:nvPr/>
        </p:nvSpPr>
        <p:spPr>
          <a:xfrm>
            <a:off x="1280160" y="5349240"/>
            <a:ext cx="4754880" cy="640080"/>
          </a:xfrm>
          <a:prstGeom prst="rect">
            <a:avLst/>
          </a:prstGeom>
          <a:noFill/>
          <a:ln/>
        </p:spPr>
        <p:txBody>
          <a:bodyPr wrap="square" lIns="0" tIns="0" rIns="0" bIns="0" rtlCol="0" anchor="ctr"/>
          <a:lstStyle/>
          <a:p>
            <a:pPr indent="0" marL="0">
              <a:buNone/>
            </a:pPr>
            <a:r>
              <a:rPr lang="en-US" sz="1200" dirty="0">
                <a:solidFill>
                  <a:srgbClr val="5B6B80"/>
                </a:solidFill>
                <a:latin typeface="Calibri" pitchFamily="34" charset="0"/>
                <a:ea typeface="Calibri" pitchFamily="34" charset="-122"/>
                <a:cs typeface="Calibri" pitchFamily="34" charset="-120"/>
              </a:rPr>
              <a:t>sources and dates on every line; LLM optional and never decides; human signs the tender</a:t>
            </a:r>
            <a:endParaRPr lang="en-US" sz="1200" dirty="0"/>
          </a:p>
        </p:txBody>
      </p:sp>
      <p:sp>
        <p:nvSpPr>
          <p:cNvPr id="20" name="Shape 14"/>
          <p:cNvSpPr/>
          <p:nvPr/>
        </p:nvSpPr>
        <p:spPr>
          <a:xfrm>
            <a:off x="6492240" y="1737360"/>
            <a:ext cx="5166360" cy="4343400"/>
          </a:xfrm>
          <a:prstGeom prst="roundRect">
            <a:avLst>
              <a:gd name="adj" fmla="val 1684"/>
            </a:avLst>
          </a:prstGeom>
          <a:solidFill>
            <a:srgbClr val="E8EEF7"/>
          </a:solidFill>
          <a:ln w="9525">
            <a:solidFill>
              <a:srgbClr val="D5DEEA"/>
            </a:solidFill>
            <a:prstDash val="solid"/>
          </a:ln>
        </p:spPr>
      </p:sp>
      <p:sp>
        <p:nvSpPr>
          <p:cNvPr id="21" name="Text 15"/>
          <p:cNvSpPr txBox="1"/>
          <p:nvPr/>
        </p:nvSpPr>
        <p:spPr>
          <a:xfrm>
            <a:off x="6766560" y="1920240"/>
            <a:ext cx="4572000" cy="411480"/>
          </a:xfrm>
          <a:prstGeom prst="rect">
            <a:avLst/>
          </a:prstGeom>
          <a:noFill/>
          <a:ln/>
        </p:spPr>
        <p:txBody>
          <a:bodyPr wrap="square" lIns="0" tIns="0" rIns="0" bIns="0" rtlCol="0" anchor="ctr"/>
          <a:lstStyle/>
          <a:p>
            <a:pPr indent="0" marL="0">
              <a:buNone/>
            </a:pPr>
            <a:r>
              <a:rPr lang="en-US" sz="2000" b="1" dirty="0">
                <a:solidFill>
                  <a:srgbClr val="0F2748"/>
                </a:solidFill>
                <a:latin typeface="Cambria" pitchFamily="34" charset="0"/>
                <a:ea typeface="Cambria" pitchFamily="34" charset="-122"/>
                <a:cs typeface="Cambria" pitchFamily="34" charset="-120"/>
              </a:rPr>
              <a:t>Next steps</a:t>
            </a:r>
            <a:endParaRPr lang="en-US" sz="2000" dirty="0"/>
          </a:p>
        </p:txBody>
      </p:sp>
      <p:sp>
        <p:nvSpPr>
          <p:cNvPr id="22" name="Text 16"/>
          <p:cNvSpPr txBox="1"/>
          <p:nvPr/>
        </p:nvSpPr>
        <p:spPr>
          <a:xfrm>
            <a:off x="6766560" y="2468880"/>
            <a:ext cx="4663440" cy="347472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Amendment lists for all standards (today 1,138) — ~2 h collection from an Indian connection</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Clause-level retrieval over every paragraph for sharper “why” on long standards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Full text for the 10,171 newer standards (title-only today, capped at “Possible”)</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Indian languages: larger glossary; optional Bhashini / LLM translator</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Pilot with a procurement cell: team-verified labels, public demo URL, GeM API</a:t>
            </a:r>
            <a:endParaRPr lang="en-US" sz="1350" dirty="0"/>
          </a:p>
        </p:txBody>
      </p:sp>
      <p:sp>
        <p:nvSpPr>
          <p:cNvPr id="23"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A97A8"/>
                </a:solidFill>
                <a:latin typeface="Calibri" pitchFamily="34" charset="0"/>
                <a:ea typeface="Calibri" pitchFamily="34" charset="-122"/>
                <a:cs typeface="Calibri" pitchFamily="34" charset="-120"/>
              </a:rPr>
              <a:t>SpecSure · SIH26108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748"/>
        </a:solidFill>
      </p:bgPr>
    </p:bg>
    <p:spTree>
      <p:nvGrpSpPr>
        <p:cNvPr id="1" name=""/>
        <p:cNvGrpSpPr/>
        <p:nvPr/>
      </p:nvGrpSpPr>
      <p:grpSpPr>
        <a:xfrm>
          <a:off x="0" y="0"/>
          <a:ext cx="0" cy="0"/>
          <a:chOff x="0" y="0"/>
          <a:chExt cx="0" cy="0"/>
        </a:xfrm>
      </p:grpSpPr>
      <p:sp>
        <p:nvSpPr>
          <p:cNvPr id="2" name="Text 0"/>
          <p:cNvSpPr txBox="1"/>
          <p:nvPr/>
        </p:nvSpPr>
        <p:spPr>
          <a:xfrm>
            <a:off x="548640" y="1371600"/>
            <a:ext cx="7498080" cy="2011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Right standard. Right edition.</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Right test lab. In the buyer’s language.</a:t>
            </a:r>
            <a:endParaRPr lang="en-US" sz="3800" dirty="0"/>
          </a:p>
        </p:txBody>
      </p:sp>
      <p:sp>
        <p:nvSpPr>
          <p:cNvPr id="3" name="Text 1"/>
          <p:cNvSpPr txBox="1"/>
          <p:nvPr/>
        </p:nvSpPr>
        <p:spPr>
          <a:xfrm>
            <a:off x="548640" y="3566160"/>
            <a:ext cx="6766560" cy="914400"/>
          </a:xfrm>
          <a:prstGeom prst="rect">
            <a:avLst/>
          </a:prstGeom>
          <a:noFill/>
          <a:ln/>
        </p:spPr>
        <p:txBody>
          <a:bodyPr wrap="square" lIns="0" tIns="0" rIns="0" bIns="0" rtlCol="0" anchor="ctr"/>
          <a:lstStyle/>
          <a:p>
            <a:pPr indent="0" marL="0">
              <a:buNone/>
            </a:pPr>
            <a:r>
              <a:rPr lang="en-US" sz="1700" dirty="0">
                <a:solidFill>
                  <a:srgbClr val="C9D6EA"/>
                </a:solidFill>
                <a:latin typeface="Calibri" pitchFamily="34" charset="0"/>
                <a:ea typeface="Calibri" pitchFamily="34" charset="-122"/>
                <a:cs typeface="Calibri" pitchFamily="34" charset="-120"/>
              </a:rPr>
              <a:t>SpecSure turns a product description or a whole tender into standards a procurement officer can defend — sourced, dated and explained.</a:t>
            </a:r>
            <a:endParaRPr lang="en-US" sz="1700" dirty="0"/>
          </a:p>
        </p:txBody>
      </p:sp>
      <p:sp>
        <p:nvSpPr>
          <p:cNvPr id="4" name="Text 2"/>
          <p:cNvSpPr txBox="1"/>
          <p:nvPr/>
        </p:nvSpPr>
        <p:spPr>
          <a:xfrm>
            <a:off x="548640" y="4846320"/>
            <a:ext cx="2377440" cy="320040"/>
          </a:xfrm>
          <a:prstGeom prst="rect">
            <a:avLst/>
          </a:prstGeom>
          <a:noFill/>
          <a:ln/>
        </p:spPr>
        <p:txBody>
          <a:bodyPr wrap="square" lIns="0" tIns="0" rIns="0" bIns="0" rtlCol="0" anchor="ctr"/>
          <a:lstStyle/>
          <a:p>
            <a:pPr indent="0" marL="0">
              <a:buNone/>
            </a:pPr>
            <a:r>
              <a:rPr lang="en-US" sz="1400" b="1" dirty="0">
                <a:solidFill>
                  <a:srgbClr val="F28C28"/>
                </a:solidFill>
                <a:latin typeface="Calibri" pitchFamily="34" charset="0"/>
                <a:ea typeface="Calibri" pitchFamily="34" charset="-122"/>
                <a:cs typeface="Calibri" pitchFamily="34" charset="-120"/>
              </a:rPr>
              <a:t>Live demo</a:t>
            </a:r>
            <a:endParaRPr lang="en-US" sz="1400" dirty="0"/>
          </a:p>
        </p:txBody>
      </p:sp>
      <p:sp>
        <p:nvSpPr>
          <p:cNvPr id="5" name="Text 3"/>
          <p:cNvSpPr txBox="1"/>
          <p:nvPr/>
        </p:nvSpPr>
        <p:spPr>
          <a:xfrm>
            <a:off x="548640" y="5166360"/>
            <a:ext cx="2377440" cy="548640"/>
          </a:xfrm>
          <a:prstGeom prst="rect">
            <a:avLst/>
          </a:prstGeom>
          <a:noFill/>
          <a:ln/>
        </p:spPr>
        <p:txBody>
          <a:bodyPr wrap="square" lIns="0" tIns="0" rIns="0" bIns="0" rtlCol="0" anchor="ctr"/>
          <a:lstStyle/>
          <a:p>
            <a:pPr indent="0" marL="0">
              <a:buNone/>
            </a:pPr>
            <a:r>
              <a:rPr lang="en-US" sz="1150" dirty="0">
                <a:solidFill>
                  <a:srgbClr val="A9BAD3"/>
                </a:solidFill>
                <a:latin typeface="Calibri" pitchFamily="34" charset="0"/>
                <a:ea typeface="Calibri" pitchFamily="34" charset="-122"/>
                <a:cs typeface="Calibri" pitchFamily="34" charset="-120"/>
              </a:rPr>
              <a:t>Find Standards · Evidence · Extension</a:t>
            </a:r>
            <a:endParaRPr lang="en-US" sz="1150" dirty="0"/>
          </a:p>
        </p:txBody>
      </p:sp>
      <p:sp>
        <p:nvSpPr>
          <p:cNvPr id="6" name="Text 4"/>
          <p:cNvSpPr txBox="1"/>
          <p:nvPr/>
        </p:nvSpPr>
        <p:spPr>
          <a:xfrm>
            <a:off x="3063240" y="4846320"/>
            <a:ext cx="2377440" cy="320040"/>
          </a:xfrm>
          <a:prstGeom prst="rect">
            <a:avLst/>
          </a:prstGeom>
          <a:noFill/>
          <a:ln/>
        </p:spPr>
        <p:txBody>
          <a:bodyPr wrap="square" lIns="0" tIns="0" rIns="0" bIns="0" rtlCol="0" anchor="ctr"/>
          <a:lstStyle/>
          <a:p>
            <a:pPr indent="0" marL="0">
              <a:buNone/>
            </a:pPr>
            <a:r>
              <a:rPr lang="en-US" sz="1400" b="1" dirty="0">
                <a:solidFill>
                  <a:srgbClr val="F28C28"/>
                </a:solidFill>
                <a:latin typeface="Calibri" pitchFamily="34" charset="0"/>
                <a:ea typeface="Calibri" pitchFamily="34" charset="-122"/>
                <a:cs typeface="Calibri" pitchFamily="34" charset="-120"/>
              </a:rPr>
              <a:t>100-second film</a:t>
            </a:r>
            <a:endParaRPr lang="en-US" sz="1400" dirty="0"/>
          </a:p>
        </p:txBody>
      </p:sp>
      <p:sp>
        <p:nvSpPr>
          <p:cNvPr id="7" name="Text 5"/>
          <p:cNvSpPr txBox="1"/>
          <p:nvPr/>
        </p:nvSpPr>
        <p:spPr>
          <a:xfrm>
            <a:off x="3063240" y="5166360"/>
            <a:ext cx="2377440" cy="548640"/>
          </a:xfrm>
          <a:prstGeom prst="rect">
            <a:avLst/>
          </a:prstGeom>
          <a:noFill/>
          <a:ln/>
        </p:spPr>
        <p:txBody>
          <a:bodyPr wrap="square" lIns="0" tIns="0" rIns="0" bIns="0" rtlCol="0" anchor="ctr"/>
          <a:lstStyle/>
          <a:p>
            <a:pPr indent="0" marL="0">
              <a:buNone/>
            </a:pPr>
            <a:r>
              <a:rPr lang="en-US" sz="1150" dirty="0">
                <a:solidFill>
                  <a:srgbClr val="A9BAD3"/>
                </a:solidFill>
                <a:latin typeface="Calibri" pitchFamily="34" charset="0"/>
                <a:ea typeface="Calibri" pitchFamily="34" charset="-122"/>
                <a:cs typeface="Calibri" pitchFamily="34" charset="-120"/>
              </a:rPr>
              <a:t>docs/media/specsure_demo.mp4</a:t>
            </a:r>
            <a:endParaRPr lang="en-US" sz="1150" dirty="0"/>
          </a:p>
        </p:txBody>
      </p:sp>
      <p:sp>
        <p:nvSpPr>
          <p:cNvPr id="8" name="Text 6"/>
          <p:cNvSpPr txBox="1"/>
          <p:nvPr/>
        </p:nvSpPr>
        <p:spPr>
          <a:xfrm>
            <a:off x="5577840" y="4846320"/>
            <a:ext cx="2377440" cy="320040"/>
          </a:xfrm>
          <a:prstGeom prst="rect">
            <a:avLst/>
          </a:prstGeom>
          <a:noFill/>
          <a:ln/>
        </p:spPr>
        <p:txBody>
          <a:bodyPr wrap="square" lIns="0" tIns="0" rIns="0" bIns="0" rtlCol="0" anchor="ctr"/>
          <a:lstStyle/>
          <a:p>
            <a:pPr indent="0" marL="0">
              <a:buNone/>
            </a:pPr>
            <a:r>
              <a:rPr lang="en-US" sz="1400" b="1" dirty="0">
                <a:solidFill>
                  <a:srgbClr val="F28C28"/>
                </a:solidFill>
                <a:latin typeface="Calibri" pitchFamily="34" charset="0"/>
                <a:ea typeface="Calibri" pitchFamily="34" charset="-122"/>
                <a:cs typeface="Calibri" pitchFamily="34" charset="-120"/>
              </a:rPr>
              <a:t>Reproduce every number</a:t>
            </a:r>
            <a:endParaRPr lang="en-US" sz="1400" dirty="0"/>
          </a:p>
        </p:txBody>
      </p:sp>
      <p:sp>
        <p:nvSpPr>
          <p:cNvPr id="9" name="Text 7"/>
          <p:cNvSpPr txBox="1"/>
          <p:nvPr/>
        </p:nvSpPr>
        <p:spPr>
          <a:xfrm>
            <a:off x="5577840" y="5166360"/>
            <a:ext cx="2377440" cy="548640"/>
          </a:xfrm>
          <a:prstGeom prst="rect">
            <a:avLst/>
          </a:prstGeom>
          <a:noFill/>
          <a:ln/>
        </p:spPr>
        <p:txBody>
          <a:bodyPr wrap="square" lIns="0" tIns="0" rIns="0" bIns="0" rtlCol="0" anchor="ctr"/>
          <a:lstStyle/>
          <a:p>
            <a:pPr indent="0" marL="0">
              <a:buNone/>
            </a:pPr>
            <a:r>
              <a:rPr lang="en-US" sz="1150" dirty="0">
                <a:solidFill>
                  <a:srgbClr val="A9BAD3"/>
                </a:solidFill>
                <a:latin typeface="Calibri" pitchFamily="34" charset="0"/>
                <a:ea typeface="Calibri" pitchFamily="34" charset="-122"/>
                <a:cs typeface="Calibri" pitchFamily="34" charset="-120"/>
              </a:rPr>
              <a:t>scripts/corpus_benchmark.py · real_tender_study.py</a:t>
            </a:r>
            <a:endParaRPr lang="en-US" sz="1150" dirty="0"/>
          </a:p>
        </p:txBody>
      </p:sp>
      <p:sp>
        <p:nvSpPr>
          <p:cNvPr id="10" name="Text 8"/>
          <p:cNvSpPr txBox="1"/>
          <p:nvPr/>
        </p:nvSpPr>
        <p:spPr>
          <a:xfrm>
            <a:off x="548640" y="598932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Thank you  ·  Team CodeNova</a:t>
            </a:r>
            <a:endParaRPr lang="en-US" sz="1400" dirty="0"/>
          </a:p>
        </p:txBody>
      </p:sp>
      <p:sp>
        <p:nvSpPr>
          <p:cNvPr id="11" name="Shape 9"/>
          <p:cNvSpPr/>
          <p:nvPr/>
        </p:nvSpPr>
        <p:spPr>
          <a:xfrm>
            <a:off x="8321040" y="764177"/>
            <a:ext cx="3291840" cy="5512526"/>
          </a:xfrm>
          <a:prstGeom prst="roundRect">
            <a:avLst>
              <a:gd name="adj" fmla="val 2778"/>
            </a:avLst>
          </a:prstGeom>
          <a:solidFill>
            <a:srgbClr val="FFFFFF"/>
          </a:solidFill>
          <a:ln w="12700">
            <a:solidFill>
              <a:srgbClr val="FFFFFF"/>
            </a:solidFill>
            <a:prstDash val="solid"/>
          </a:ln>
          <a:effectLst>
            <a:outerShdw sx="100000" sy="100000" kx="0" ky="0" algn="bl" rotWithShape="0" blurRad="101600" dist="25400" dir="5400000">
              <a:srgbClr val="000000">
                <a:alpha val="18000"/>
              </a:srgbClr>
            </a:outerShdw>
          </a:effectLst>
        </p:spPr>
      </p:sp>
      <p:pic>
        <p:nvPicPr>
          <p:cNvPr id="12" name="Image 0" descr="/tmp/claude-0/deck/img/ext_panel_top.png">    </p:cNvPr>
          <p:cNvPicPr>
            <a:picLocks noChangeAspect="1"/>
          </p:cNvPicPr>
          <p:nvPr/>
        </p:nvPicPr>
        <p:blipFill>
          <a:blip r:embed="rId1"/>
          <a:stretch>
            <a:fillRect/>
          </a:stretch>
        </p:blipFill>
        <p:spPr>
          <a:xfrm>
            <a:off x="8412480" y="855617"/>
            <a:ext cx="3108960" cy="53296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Team CodeNova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SpecSure — SIH 2026 · PS SIH26108</dc:title>
  <dc:subject>PptxGenJS Presentation</dc:subject>
  <dc:creator>PptxGenJS</dc:creator>
  <cp:lastModifiedBy>PptxGenJS</cp:lastModifiedBy>
  <cp:revision>1</cp:revision>
  <dcterms:created xsi:type="dcterms:W3CDTF">2026-09-27T15:00:26Z</dcterms:created>
  <dcterms:modified xsi:type="dcterms:W3CDTF">2026-09-27T15:00:26Z</dcterms:modified>
</cp:coreProperties>
</file>